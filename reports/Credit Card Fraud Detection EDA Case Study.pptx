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5"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a:t>Click to edit Master subtitle style</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endParaRPr lang="en-IN"/>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FC6E7C73-0DF8-4716-B90C-4BC6291E2903}" type="slidenum">
              <a:rPr lang="en-IN" smtClean="0"/>
              <a:t>‹#›</a:t>
            </a:fld>
            <a:endParaRPr lang="en-IN"/>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a:t>Click to edit Master title style</a:t>
            </a:r>
            <a:endParaRPr lang="en-US" dirty="0"/>
          </a:p>
        </p:txBody>
      </p:sp>
    </p:spTree>
    <p:extLst>
      <p:ext uri="{BB962C8B-B14F-4D97-AF65-F5344CB8AC3E}">
        <p14:creationId xmlns:p14="http://schemas.microsoft.com/office/powerpoint/2010/main" val="29212021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endParaRPr lang="en-IN"/>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fld id="{09B282DC-FC46-424E-B914-FDD4A28987B2}" type="datetimeFigureOut">
              <a:rPr lang="en-IN" smtClean="0"/>
              <a:t>05-10-2026</a:t>
            </a:fld>
            <a:endParaRPr lang="en-IN"/>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FC6E7C73-0DF8-4716-B90C-4BC6291E2903}" type="slidenum">
              <a:rPr lang="en-IN" smtClean="0"/>
              <a:t>‹#›</a:t>
            </a:fld>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5721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a:t>Click to edit Master title style</a:t>
            </a:r>
            <a:endParaRPr lang="en-US" dirty="0"/>
          </a:p>
        </p:txBody>
      </p:sp>
    </p:spTree>
    <p:extLst>
      <p:ext uri="{BB962C8B-B14F-4D97-AF65-F5344CB8AC3E}">
        <p14:creationId xmlns:p14="http://schemas.microsoft.com/office/powerpoint/2010/main" val="5746867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fld id="{09B282DC-FC46-424E-B914-FDD4A28987B2}" type="datetimeFigureOut">
              <a:rPr lang="en-IN" smtClean="0"/>
              <a:t>05-10-2026</a:t>
            </a:fld>
            <a:endParaRPr lang="en-IN"/>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FC6E7C73-0DF8-4716-B90C-4BC6291E2903}" type="slidenum">
              <a:rPr lang="en-IN" smtClean="0"/>
              <a:t>‹#›</a:t>
            </a:fld>
            <a:endParaRPr lang="en-IN"/>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1737621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396775465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Oval 7">
            <a:extLst>
              <a:ext uri="{FF2B5EF4-FFF2-40B4-BE49-F238E27FC236}">
                <a16:creationId xmlns:a16="http://schemas.microsoft.com/office/drawing/2014/main" id="{175C8E38-E957-9E3C-9A05-717C0F009AB9}"/>
              </a:ext>
            </a:extLst>
          </p:cNvPr>
          <p:cNvSpPr/>
          <p:nvPr/>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a:lstStyle/>
          <a:p>
            <a:fld id="{FC6E7C73-0DF8-4716-B90C-4BC6291E2903}" type="slidenum">
              <a:rPr lang="en-IN" smtClean="0"/>
              <a:t>‹#›</a:t>
            </a:fld>
            <a:endParaRPr lang="en-IN"/>
          </a:p>
        </p:txBody>
      </p:sp>
    </p:spTree>
    <p:extLst>
      <p:ext uri="{BB962C8B-B14F-4D97-AF65-F5344CB8AC3E}">
        <p14:creationId xmlns:p14="http://schemas.microsoft.com/office/powerpoint/2010/main" val="3755074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lvl1pPr>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a:lstStyle/>
          <a:p>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FC6E7C73-0DF8-4716-B90C-4BC6291E2903}"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47956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endParaRPr lang="en-IN"/>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fld id="{09B282DC-FC46-424E-B914-FDD4A28987B2}" type="datetimeFigureOut">
              <a:rPr lang="en-IN" smtClean="0"/>
              <a:t>05-10-2026</a:t>
            </a:fld>
            <a:endParaRPr lang="en-IN"/>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FC6E7C73-0DF8-4716-B90C-4BC6291E2903}" type="slidenum">
              <a:rPr lang="en-IN" smtClean="0"/>
              <a:t>‹#›</a:t>
            </a:fld>
            <a:endParaRPr lang="en-IN"/>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26192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a:lstStyle/>
          <a:p>
            <a:endParaRPr lang="en-IN"/>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a:lstStyle/>
          <a:p>
            <a:fld id="{09B282DC-FC46-424E-B914-FDD4A28987B2}" type="datetimeFigureOut">
              <a:rPr lang="en-IN" smtClean="0"/>
              <a:t>05-10-2026</a:t>
            </a:fld>
            <a:endParaRPr lang="en-IN"/>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a:lstStyle/>
          <a:p>
            <a:fld id="{FC6E7C73-0DF8-4716-B90C-4BC6291E2903}" type="slidenum">
              <a:rPr lang="en-IN" smtClean="0"/>
              <a:t>‹#›</a:t>
            </a:fld>
            <a:endParaRPr lang="en-IN"/>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92055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endParaRPr lang="en-IN"/>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FC6E7C73-0DF8-4716-B90C-4BC6291E2903}" type="slidenum">
              <a:rPr lang="en-IN" smtClean="0"/>
              <a:t>‹#›</a:t>
            </a:fld>
            <a:endParaRPr lang="en-IN"/>
          </a:p>
        </p:txBody>
      </p:sp>
    </p:spTree>
    <p:extLst>
      <p:ext uri="{BB962C8B-B14F-4D97-AF65-F5344CB8AC3E}">
        <p14:creationId xmlns:p14="http://schemas.microsoft.com/office/powerpoint/2010/main" val="3736745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endParaRPr lang="en-IN"/>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fld id="{09B282DC-FC46-424E-B914-FDD4A28987B2}" type="datetimeFigureOut">
              <a:rPr lang="en-IN" smtClean="0"/>
              <a:t>05-10-2026</a:t>
            </a:fld>
            <a:endParaRPr lang="en-IN"/>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FC6E7C73-0DF8-4716-B90C-4BC6291E2903}" type="slidenum">
              <a:rPr lang="en-IN" smtClean="0"/>
              <a:t>‹#›</a:t>
            </a:fld>
            <a:endParaRPr lang="en-IN"/>
          </a:p>
        </p:txBody>
      </p:sp>
    </p:spTree>
    <p:extLst>
      <p:ext uri="{BB962C8B-B14F-4D97-AF65-F5344CB8AC3E}">
        <p14:creationId xmlns:p14="http://schemas.microsoft.com/office/powerpoint/2010/main" val="1094423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endParaRPr lang="en-IN"/>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fld id="{09B282DC-FC46-424E-B914-FDD4A28987B2}" type="datetimeFigureOut">
              <a:rPr lang="en-IN" smtClean="0"/>
              <a:t>05-10-2026</a:t>
            </a:fld>
            <a:endParaRPr lang="en-IN"/>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FC6E7C73-0DF8-4716-B90C-4BC6291E2903}" type="slidenum">
              <a:rPr lang="en-IN" smtClean="0"/>
              <a:t>‹#›</a:t>
            </a:fld>
            <a:endParaRPr lang="en-IN"/>
          </a:p>
        </p:txBody>
      </p:sp>
    </p:spTree>
    <p:extLst>
      <p:ext uri="{BB962C8B-B14F-4D97-AF65-F5344CB8AC3E}">
        <p14:creationId xmlns:p14="http://schemas.microsoft.com/office/powerpoint/2010/main" val="38222145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a:t>Click to edit Master title style</a:t>
            </a:r>
            <a:endParaRPr lang="en-US" dirty="0"/>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endParaRPr lang="en-IN"/>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FC6E7C73-0DF8-4716-B90C-4BC6291E2903}" type="slidenum">
              <a:rPr lang="en-IN" smtClean="0"/>
              <a:t>‹#›</a:t>
            </a:fld>
            <a:endParaRPr lang="en-IN"/>
          </a:p>
        </p:txBody>
      </p:sp>
    </p:spTree>
    <p:extLst>
      <p:ext uri="{BB962C8B-B14F-4D97-AF65-F5344CB8AC3E}">
        <p14:creationId xmlns:p14="http://schemas.microsoft.com/office/powerpoint/2010/main" val="13148970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endParaRPr lang="en-IN"/>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FC6E7C73-0DF8-4716-B90C-4BC6291E2903}" type="slidenum">
              <a:rPr lang="en-IN" smtClean="0"/>
              <a:t>‹#›</a:t>
            </a:fld>
            <a:endParaRPr lang="en-IN"/>
          </a:p>
        </p:txBody>
      </p:sp>
    </p:spTree>
    <p:extLst>
      <p:ext uri="{BB962C8B-B14F-4D97-AF65-F5344CB8AC3E}">
        <p14:creationId xmlns:p14="http://schemas.microsoft.com/office/powerpoint/2010/main" val="2139515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endParaRPr lang="en-IN"/>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FC6E7C73-0DF8-4716-B90C-4BC6291E2903}" type="slidenum">
              <a:rPr lang="en-IN" smtClean="0"/>
              <a:t>‹#›</a:t>
            </a:fld>
            <a:endParaRPr lang="en-IN"/>
          </a:p>
        </p:txBody>
      </p:sp>
    </p:spTree>
    <p:extLst>
      <p:ext uri="{BB962C8B-B14F-4D97-AF65-F5344CB8AC3E}">
        <p14:creationId xmlns:p14="http://schemas.microsoft.com/office/powerpoint/2010/main" val="35049828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endParaRPr lang="en-IN"/>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fld id="{09B282DC-FC46-424E-B914-FDD4A28987B2}" type="datetimeFigureOut">
              <a:rPr lang="en-IN" smtClean="0"/>
              <a:t>05-10-2026</a:t>
            </a:fld>
            <a:endParaRPr lang="en-IN"/>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FC6E7C73-0DF8-4716-B90C-4BC6291E2903}" type="slidenum">
              <a:rPr lang="en-IN" smtClean="0"/>
              <a:t>‹#›</a:t>
            </a:fld>
            <a:endParaRPr lang="en-IN"/>
          </a:p>
        </p:txBody>
      </p:sp>
    </p:spTree>
    <p:extLst>
      <p:ext uri="{BB962C8B-B14F-4D97-AF65-F5344CB8AC3E}">
        <p14:creationId xmlns:p14="http://schemas.microsoft.com/office/powerpoint/2010/main" val="28773650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a:t>Click to edit Master title style</a:t>
            </a:r>
            <a:endParaRPr lang="en-US" dirty="0"/>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endParaRPr lang="en-IN"/>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FC6E7C73-0DF8-4716-B90C-4BC6291E2903}" type="slidenum">
              <a:rPr lang="en-IN" smtClean="0"/>
              <a:t>‹#›</a:t>
            </a:fld>
            <a:endParaRPr lang="en-IN"/>
          </a:p>
        </p:txBody>
      </p:sp>
    </p:spTree>
    <p:extLst>
      <p:ext uri="{BB962C8B-B14F-4D97-AF65-F5344CB8AC3E}">
        <p14:creationId xmlns:p14="http://schemas.microsoft.com/office/powerpoint/2010/main" val="3399439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anchor="b"/>
          <a:lstStyle/>
          <a:p>
            <a:endParaRPr lang="en-IN"/>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anchor="b"/>
          <a:lstStyle/>
          <a:p>
            <a:fld id="{09B282DC-FC46-424E-B914-FDD4A28987B2}" type="datetimeFigureOut">
              <a:rPr lang="en-IN" smtClean="0"/>
              <a:t>05-10-2026</a:t>
            </a:fld>
            <a:endParaRPr lang="en-IN"/>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anchor="b"/>
          <a:lstStyle/>
          <a:p>
            <a:fld id="{FC6E7C73-0DF8-4716-B90C-4BC6291E2903}" type="slidenum">
              <a:rPr lang="en-IN" smtClean="0"/>
              <a:t>‹#›</a:t>
            </a:fld>
            <a:endParaRPr lang="en-IN"/>
          </a:p>
        </p:txBody>
      </p:sp>
    </p:spTree>
    <p:extLst>
      <p:ext uri="{BB962C8B-B14F-4D97-AF65-F5344CB8AC3E}">
        <p14:creationId xmlns:p14="http://schemas.microsoft.com/office/powerpoint/2010/main" val="1196470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a:lstStyle/>
          <a:p>
            <a:fld id="{FC6E7C73-0DF8-4716-B90C-4BC6291E2903}" type="slidenum">
              <a:rPr lang="en-IN" smtClean="0"/>
              <a:t>‹#›</a:t>
            </a:fld>
            <a:endParaRPr lang="en-IN"/>
          </a:p>
        </p:txBody>
      </p:sp>
    </p:spTree>
    <p:extLst>
      <p:ext uri="{BB962C8B-B14F-4D97-AF65-F5344CB8AC3E}">
        <p14:creationId xmlns:p14="http://schemas.microsoft.com/office/powerpoint/2010/main" val="11097667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endParaRPr lang="en-IN"/>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fld id="{09B282DC-FC46-424E-B914-FDD4A28987B2}" type="datetimeFigureOut">
              <a:rPr lang="en-IN" smtClean="0"/>
              <a:t>05-10-2026</a:t>
            </a:fld>
            <a:endParaRPr lang="en-IN"/>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FC6E7C73-0DF8-4716-B90C-4BC6291E2903}" type="slidenum">
              <a:rPr lang="en-IN" smtClean="0"/>
              <a:t>‹#›</a:t>
            </a:fld>
            <a:endParaRPr lang="en-IN"/>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836921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FC6E7C73-0DF8-4716-B90C-4BC6291E2903}" type="slidenum">
              <a:rPr lang="en-IN" smtClean="0"/>
              <a:t>‹#›</a:t>
            </a:fld>
            <a:endParaRPr lang="en-IN"/>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endParaRPr lang="en-IN"/>
          </a:p>
        </p:txBody>
      </p:sp>
    </p:spTree>
    <p:extLst>
      <p:ext uri="{BB962C8B-B14F-4D97-AF65-F5344CB8AC3E}">
        <p14:creationId xmlns:p14="http://schemas.microsoft.com/office/powerpoint/2010/main" val="3961218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512064" y="987552"/>
            <a:ext cx="3465576" cy="294436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530353" y="110364"/>
            <a:ext cx="3474720" cy="365125"/>
          </a:xfrm>
        </p:spPr>
        <p:txBody>
          <a:bodyPr/>
          <a:lstStyle/>
          <a:p>
            <a:endParaRPr lang="en-IN"/>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4315968" y="104576"/>
            <a:ext cx="4836883" cy="365125"/>
          </a:xfrm>
        </p:spPr>
        <p:txBody>
          <a:bodyPr/>
          <a:lstStyle/>
          <a:p>
            <a:fld id="{09B282DC-FC46-424E-B914-FDD4A28987B2}" type="datetimeFigureOut">
              <a:rPr lang="en-IN" smtClean="0"/>
              <a:t>05-10-2026</a:t>
            </a:fld>
            <a:endParaRPr lang="en-IN"/>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FC6E7C73-0DF8-4716-B90C-4BC6291E2903}" type="slidenum">
              <a:rPr lang="en-IN" smtClean="0"/>
              <a:t>‹#›</a:t>
            </a:fld>
            <a:endParaRPr lang="en-IN"/>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4315966" y="987552"/>
            <a:ext cx="7446825"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4315967" y="3931920"/>
            <a:ext cx="7446824"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981053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512064" y="630936"/>
            <a:ext cx="11018520"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530352" y="110364"/>
            <a:ext cx="5276852" cy="365125"/>
          </a:xfrm>
        </p:spPr>
        <p:txBody>
          <a:bodyPr/>
          <a:lstStyle/>
          <a:p>
            <a:endParaRPr lang="en-IN"/>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6190488" y="104576"/>
            <a:ext cx="4836883" cy="365125"/>
          </a:xfrm>
        </p:spPr>
        <p:txBody>
          <a:bodyPr/>
          <a:lstStyle/>
          <a:p>
            <a:fld id="{09B282DC-FC46-424E-B914-FDD4A28987B2}" type="datetimeFigureOut">
              <a:rPr lang="en-IN" smtClean="0"/>
              <a:t>05-10-2026</a:t>
            </a:fld>
            <a:endParaRPr lang="en-IN"/>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FC6E7C73-0DF8-4716-B90C-4BC6291E2903}" type="slidenum">
              <a:rPr lang="en-IN" smtClean="0"/>
              <a:t>‹#›</a:t>
            </a:fld>
            <a:endParaRPr lang="en-IN"/>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530352" y="2286000"/>
            <a:ext cx="5184648" cy="534033"/>
          </a:xfrm>
        </p:spPr>
        <p:txBody>
          <a:bodyPr/>
          <a:lstStyle/>
          <a:p>
            <a:endParaRPr lang="en-US" dirty="0"/>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530351" y="2980943"/>
            <a:ext cx="5183188"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6190488" y="2286000"/>
            <a:ext cx="5183188" cy="534033"/>
          </a:xfrm>
        </p:spPr>
        <p:txBody>
          <a:bodyPr/>
          <a:lstStyle/>
          <a:p>
            <a:endParaRPr lang="en-US" dirty="0"/>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6190488" y="2980944"/>
            <a:ext cx="5183188"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988475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endParaRPr lang="en-IN"/>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09B282DC-FC46-424E-B914-FDD4A28987B2}" type="datetimeFigureOut">
              <a:rPr lang="en-IN" smtClean="0"/>
              <a:t>05-10-2026</a:t>
            </a:fld>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fld id="{FC6E7C73-0DF8-4716-B90C-4BC6291E2903}" type="slidenum">
              <a:rPr lang="en-IN" smtClean="0"/>
              <a:t>‹#›</a:t>
            </a:fld>
            <a:endParaRPr lang="en-IN"/>
          </a:p>
        </p:txBody>
      </p:sp>
    </p:spTree>
    <p:extLst>
      <p:ext uri="{BB962C8B-B14F-4D97-AF65-F5344CB8AC3E}">
        <p14:creationId xmlns:p14="http://schemas.microsoft.com/office/powerpoint/2010/main" val="14858546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a:lstStyle/>
          <a:p>
            <a:endParaRPr lang="en-IN"/>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a:lstStyle/>
          <a:p>
            <a:fld id="{09B282DC-FC46-424E-B914-FDD4A28987B2}" type="datetimeFigureOut">
              <a:rPr lang="en-IN" smtClean="0"/>
              <a:t>05-10-2026</a:t>
            </a:fld>
            <a:endParaRPr lang="en-IN"/>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a:lstStyle/>
          <a:p>
            <a:fld id="{FC6E7C73-0DF8-4716-B90C-4BC6291E2903}" type="slidenum">
              <a:rPr lang="en-IN" smtClean="0"/>
              <a:t>‹#›</a:t>
            </a:fld>
            <a:endParaRPr lang="en-IN"/>
          </a:p>
        </p:txBody>
      </p:sp>
    </p:spTree>
    <p:extLst>
      <p:ext uri="{BB962C8B-B14F-4D97-AF65-F5344CB8AC3E}">
        <p14:creationId xmlns:p14="http://schemas.microsoft.com/office/powerpoint/2010/main" val="19663696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a:lstStyle/>
          <a:p>
            <a:endParaRPr lang="en-IN"/>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a:lstStyle/>
          <a:p>
            <a:fld id="{09B282DC-FC46-424E-B914-FDD4A28987B2}" type="datetimeFigureOut">
              <a:rPr lang="en-IN" smtClean="0"/>
              <a:t>05-10-2026</a:t>
            </a:fld>
            <a:endParaRPr lang="en-IN"/>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a:lstStyle/>
          <a:p>
            <a:fld id="{FC6E7C73-0DF8-4716-B90C-4BC6291E2903}" type="slidenum">
              <a:rPr lang="en-IN" smtClean="0"/>
              <a:t>‹#›</a:t>
            </a:fld>
            <a:endParaRPr lang="en-IN"/>
          </a:p>
        </p:txBody>
      </p:sp>
    </p:spTree>
    <p:extLst>
      <p:ext uri="{BB962C8B-B14F-4D97-AF65-F5344CB8AC3E}">
        <p14:creationId xmlns:p14="http://schemas.microsoft.com/office/powerpoint/2010/main" val="34477424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en-US"/>
              <a:t>Click to edit Master title style</a:t>
            </a:r>
            <a:endParaRPr lang="en-US" dirty="0"/>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a:lstStyle/>
          <a:p>
            <a:endParaRPr lang="en-IN"/>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a:lstStyle/>
          <a:p>
            <a:fld id="{09B282DC-FC46-424E-B914-FDD4A28987B2}" type="datetimeFigureOut">
              <a:rPr lang="en-IN" smtClean="0"/>
              <a:t>05-10-2026</a:t>
            </a:fld>
            <a:endParaRPr lang="en-IN"/>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anchor="b"/>
          <a:lstStyle/>
          <a:p>
            <a:fld id="{FC6E7C73-0DF8-4716-B90C-4BC6291E2903}" type="slidenum">
              <a:rPr lang="en-IN" smtClean="0"/>
              <a:t>‹#›</a:t>
            </a:fld>
            <a:endParaRPr lang="en-IN"/>
          </a:p>
        </p:txBody>
      </p:sp>
      <p:sp>
        <p:nvSpPr>
          <p:cNvPr id="3" name="Oval 2">
            <a:extLst>
              <a:ext uri="{FF2B5EF4-FFF2-40B4-BE49-F238E27FC236}">
                <a16:creationId xmlns:a16="http://schemas.microsoft.com/office/drawing/2014/main" id="{D3CF16D9-01F3-6CE6-7291-C344E099BBD0}"/>
              </a:ext>
            </a:extLst>
          </p:cNvPr>
          <p:cNvSpPr/>
          <p:nvPr/>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871611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00959-1627-31D1-5609-AC285A1511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80D11BE-81A2-9B18-007C-8D63B296B5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F12D55A-D73E-8CA0-4926-A868728B215A}"/>
              </a:ext>
            </a:extLst>
          </p:cNvPr>
          <p:cNvSpPr>
            <a:spLocks noGrp="1"/>
          </p:cNvSpPr>
          <p:nvPr>
            <p:ph type="dt" sz="half" idx="10"/>
          </p:nvPr>
        </p:nvSpPr>
        <p:spPr/>
        <p:txBody>
          <a:bodyPr/>
          <a:lstStyle/>
          <a:p>
            <a:fld id="{09B282DC-FC46-424E-B914-FDD4A28987B2}" type="datetimeFigureOut">
              <a:rPr lang="en-IN" smtClean="0"/>
              <a:t>05-10-2026</a:t>
            </a:fld>
            <a:endParaRPr lang="en-IN"/>
          </a:p>
        </p:txBody>
      </p:sp>
      <p:sp>
        <p:nvSpPr>
          <p:cNvPr id="5" name="Footer Placeholder 4">
            <a:extLst>
              <a:ext uri="{FF2B5EF4-FFF2-40B4-BE49-F238E27FC236}">
                <a16:creationId xmlns:a16="http://schemas.microsoft.com/office/drawing/2014/main" id="{F17A5B26-812C-3D1B-A10E-A9946621A0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654EBF-4996-E850-CA47-23BE8F87E740}"/>
              </a:ext>
            </a:extLst>
          </p:cNvPr>
          <p:cNvSpPr>
            <a:spLocks noGrp="1"/>
          </p:cNvSpPr>
          <p:nvPr>
            <p:ph type="sldNum" sz="quarter" idx="12"/>
          </p:nvPr>
        </p:nvSpPr>
        <p:spPr/>
        <p:txBody>
          <a:bodyPr/>
          <a:lstStyle/>
          <a:p>
            <a:fld id="{FC6E7C73-0DF8-4716-B90C-4BC6291E2903}" type="slidenum">
              <a:rPr lang="en-IN" smtClean="0"/>
              <a:t>‹#›</a:t>
            </a:fld>
            <a:endParaRPr lang="en-IN"/>
          </a:p>
        </p:txBody>
      </p:sp>
    </p:spTree>
    <p:extLst>
      <p:ext uri="{BB962C8B-B14F-4D97-AF65-F5344CB8AC3E}">
        <p14:creationId xmlns:p14="http://schemas.microsoft.com/office/powerpoint/2010/main" val="1511709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fld id="{09B282DC-FC46-424E-B914-FDD4A28987B2}" type="datetimeFigureOut">
              <a:rPr lang="en-IN" smtClean="0"/>
              <a:t>05-10-2026</a:t>
            </a:fld>
            <a:endParaRPr lang="en-IN"/>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IN"/>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fld id="{FC6E7C73-0DF8-4716-B90C-4BC6291E2903}" type="slidenum">
              <a:rPr lang="en-IN" smtClean="0"/>
              <a:t>‹#›</a:t>
            </a:fld>
            <a:endParaRPr lang="en-IN"/>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2775403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5.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5.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BF96F-3AEC-F697-553D-63A2BC33D131}"/>
              </a:ext>
            </a:extLst>
          </p:cNvPr>
          <p:cNvSpPr>
            <a:spLocks noGrp="1"/>
          </p:cNvSpPr>
          <p:nvPr>
            <p:ph type="ctrTitle"/>
          </p:nvPr>
        </p:nvSpPr>
        <p:spPr/>
        <p:txBody>
          <a:bodyPr/>
          <a:lstStyle/>
          <a:p>
            <a:pPr algn="l"/>
            <a:r>
              <a:rPr lang="en-US" dirty="0"/>
              <a:t>Credit Card Fraud Detection EDA Case Study</a:t>
            </a:r>
            <a:endParaRPr lang="en-IN" dirty="0"/>
          </a:p>
        </p:txBody>
      </p:sp>
      <p:sp>
        <p:nvSpPr>
          <p:cNvPr id="3" name="Subtitle 2">
            <a:extLst>
              <a:ext uri="{FF2B5EF4-FFF2-40B4-BE49-F238E27FC236}">
                <a16:creationId xmlns:a16="http://schemas.microsoft.com/office/drawing/2014/main" id="{404AECD0-908D-22C5-EDF4-8A9BC4D027E3}"/>
              </a:ext>
            </a:extLst>
          </p:cNvPr>
          <p:cNvSpPr>
            <a:spLocks noGrp="1"/>
          </p:cNvSpPr>
          <p:nvPr>
            <p:ph type="subTitle" idx="1"/>
          </p:nvPr>
        </p:nvSpPr>
        <p:spPr>
          <a:xfrm>
            <a:off x="1524000" y="4050890"/>
            <a:ext cx="9144000" cy="1206910"/>
          </a:xfrm>
        </p:spPr>
        <p:txBody>
          <a:bodyPr/>
          <a:lstStyle/>
          <a:p>
            <a:pPr algn="l"/>
            <a:r>
              <a:rPr lang="en-US" dirty="0"/>
              <a:t>Kalpit Kishore</a:t>
            </a:r>
            <a:endParaRPr lang="en-IN" dirty="0"/>
          </a:p>
        </p:txBody>
      </p:sp>
    </p:spTree>
    <p:extLst>
      <p:ext uri="{BB962C8B-B14F-4D97-AF65-F5344CB8AC3E}">
        <p14:creationId xmlns:p14="http://schemas.microsoft.com/office/powerpoint/2010/main" val="2723353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A374D4-5338-787B-3593-784EC620316C}"/>
              </a:ext>
            </a:extLst>
          </p:cNvPr>
          <p:cNvSpPr>
            <a:spLocks noGrp="1"/>
          </p:cNvSpPr>
          <p:nvPr>
            <p:ph type="title"/>
          </p:nvPr>
        </p:nvSpPr>
        <p:spPr>
          <a:xfrm>
            <a:off x="553998" y="1061883"/>
            <a:ext cx="10982409" cy="617237"/>
          </a:xfrm>
        </p:spPr>
        <p:txBody>
          <a:bodyPr/>
          <a:lstStyle/>
          <a:p>
            <a:r>
              <a:rPr lang="en-US" sz="4000" dirty="0"/>
              <a:t>Business Understanding &amp; Overview</a:t>
            </a:r>
            <a:endParaRPr lang="en-IN" sz="4000" dirty="0"/>
          </a:p>
        </p:txBody>
      </p:sp>
      <p:sp>
        <p:nvSpPr>
          <p:cNvPr id="5" name="Content Placeholder 4">
            <a:extLst>
              <a:ext uri="{FF2B5EF4-FFF2-40B4-BE49-F238E27FC236}">
                <a16:creationId xmlns:a16="http://schemas.microsoft.com/office/drawing/2014/main" id="{6D9361A0-E265-784D-1052-58F35D81DBD7}"/>
              </a:ext>
            </a:extLst>
          </p:cNvPr>
          <p:cNvSpPr>
            <a:spLocks noGrp="1"/>
          </p:cNvSpPr>
          <p:nvPr>
            <p:ph sz="quarter" idx="13"/>
          </p:nvPr>
        </p:nvSpPr>
        <p:spPr>
          <a:xfrm>
            <a:off x="545926" y="2507226"/>
            <a:ext cx="10982409" cy="3374959"/>
          </a:xfrm>
        </p:spPr>
        <p:txBody>
          <a:bodyPr>
            <a:normAutofit/>
          </a:bodyPr>
          <a:lstStyle/>
          <a:p>
            <a:r>
              <a:rPr lang="en-IN" sz="2800" dirty="0"/>
              <a:t>Credit card fraud poses a severe threat to payment processors, issuing banks, and consumers. Unauthorized transactions result in direct financial liabilities through chargebacks, operational overhead in managing disputes, and diminished customer trust. The primary operational objective is to detect unauthorized transactions in real time or near-real time to block fraudulent charges before settlement without disrupting genuine transactions.</a:t>
            </a:r>
          </a:p>
        </p:txBody>
      </p:sp>
    </p:spTree>
    <p:extLst>
      <p:ext uri="{BB962C8B-B14F-4D97-AF65-F5344CB8AC3E}">
        <p14:creationId xmlns:p14="http://schemas.microsoft.com/office/powerpoint/2010/main" val="1204725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2638D-F545-A066-C470-966F36767418}"/>
              </a:ext>
            </a:extLst>
          </p:cNvPr>
          <p:cNvSpPr>
            <a:spLocks noGrp="1"/>
          </p:cNvSpPr>
          <p:nvPr>
            <p:ph type="ctrTitle"/>
          </p:nvPr>
        </p:nvSpPr>
        <p:spPr/>
        <p:txBody>
          <a:bodyPr/>
          <a:lstStyle/>
          <a:p>
            <a:r>
              <a:rPr lang="en-US" dirty="0"/>
              <a:t>Understanding the data</a:t>
            </a:r>
            <a:endParaRPr lang="en-IN" dirty="0"/>
          </a:p>
        </p:txBody>
      </p:sp>
    </p:spTree>
    <p:extLst>
      <p:ext uri="{BB962C8B-B14F-4D97-AF65-F5344CB8AC3E}">
        <p14:creationId xmlns:p14="http://schemas.microsoft.com/office/powerpoint/2010/main" val="785838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803222D-AFE1-82F3-224B-8BBD98B35F02}"/>
              </a:ext>
            </a:extLst>
          </p:cNvPr>
          <p:cNvSpPr>
            <a:spLocks noGrp="1"/>
          </p:cNvSpPr>
          <p:nvPr>
            <p:ph type="title"/>
          </p:nvPr>
        </p:nvSpPr>
        <p:spPr>
          <a:xfrm>
            <a:off x="518965" y="621793"/>
            <a:ext cx="4446871" cy="723838"/>
          </a:xfrm>
        </p:spPr>
        <p:txBody>
          <a:bodyPr/>
          <a:lstStyle/>
          <a:p>
            <a:r>
              <a:rPr lang="en-US" sz="4800" dirty="0"/>
              <a:t>Target Variable</a:t>
            </a:r>
          </a:p>
        </p:txBody>
      </p:sp>
      <p:pic>
        <p:nvPicPr>
          <p:cNvPr id="10" name="Content Placeholder 9">
            <a:extLst>
              <a:ext uri="{FF2B5EF4-FFF2-40B4-BE49-F238E27FC236}">
                <a16:creationId xmlns:a16="http://schemas.microsoft.com/office/drawing/2014/main" id="{3D12A5EB-4DC0-D291-04D0-B08857D31BFC}"/>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6309360" y="1345630"/>
            <a:ext cx="5562520" cy="4211890"/>
          </a:xfrm>
          <a:prstGeom prst="rect">
            <a:avLst/>
          </a:prstGeom>
        </p:spPr>
      </p:pic>
      <p:sp>
        <p:nvSpPr>
          <p:cNvPr id="12" name="TextBox 11">
            <a:extLst>
              <a:ext uri="{FF2B5EF4-FFF2-40B4-BE49-F238E27FC236}">
                <a16:creationId xmlns:a16="http://schemas.microsoft.com/office/drawing/2014/main" id="{5CD37968-2DC3-83AB-C447-79A24738B80C}"/>
              </a:ext>
            </a:extLst>
          </p:cNvPr>
          <p:cNvSpPr txBox="1"/>
          <p:nvPr/>
        </p:nvSpPr>
        <p:spPr>
          <a:xfrm>
            <a:off x="610405" y="1554480"/>
            <a:ext cx="2122635" cy="584775"/>
          </a:xfrm>
          <a:prstGeom prst="rect">
            <a:avLst/>
          </a:prstGeom>
          <a:noFill/>
        </p:spPr>
        <p:txBody>
          <a:bodyPr wrap="square" rtlCol="0">
            <a:spAutoFit/>
          </a:bodyPr>
          <a:lstStyle/>
          <a:p>
            <a:r>
              <a:rPr lang="en-US" sz="3200" b="1" dirty="0">
                <a:solidFill>
                  <a:schemeClr val="accent2">
                    <a:lumMod val="75000"/>
                  </a:schemeClr>
                </a:solidFill>
              </a:rPr>
              <a:t>Findings</a:t>
            </a:r>
            <a:endParaRPr lang="en-IN" b="1" dirty="0">
              <a:solidFill>
                <a:schemeClr val="accent2">
                  <a:lumMod val="75000"/>
                </a:schemeClr>
              </a:solidFill>
            </a:endParaRPr>
          </a:p>
        </p:txBody>
      </p:sp>
      <p:sp>
        <p:nvSpPr>
          <p:cNvPr id="14" name="TextBox 13">
            <a:extLst>
              <a:ext uri="{FF2B5EF4-FFF2-40B4-BE49-F238E27FC236}">
                <a16:creationId xmlns:a16="http://schemas.microsoft.com/office/drawing/2014/main" id="{FE7BA497-DF86-F731-C810-7E6AA6838430}"/>
              </a:ext>
            </a:extLst>
          </p:cNvPr>
          <p:cNvSpPr txBox="1"/>
          <p:nvPr/>
        </p:nvSpPr>
        <p:spPr>
          <a:xfrm>
            <a:off x="718150" y="2348104"/>
            <a:ext cx="5276249"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Data is highly imbalanced; ratio is almost 275:1.</a:t>
            </a:r>
          </a:p>
          <a:p>
            <a:pPr marL="285750" indent="-285750">
              <a:buFont typeface="Arial" panose="020B0604020202020204" pitchFamily="34" charset="0"/>
              <a:buChar char="•"/>
            </a:pPr>
            <a:r>
              <a:rPr lang="en-IN" sz="2400" dirty="0"/>
              <a:t>Most of the credit card holders are legitimate.</a:t>
            </a:r>
          </a:p>
          <a:p>
            <a:pPr marL="285750" indent="-285750">
              <a:buFont typeface="Arial" panose="020B0604020202020204" pitchFamily="34" charset="0"/>
              <a:buChar char="•"/>
            </a:pPr>
            <a:r>
              <a:rPr lang="en-IN" sz="2400" dirty="0"/>
              <a:t>We need to analyse the data with other feature while taking the target values separately to get some insights.</a:t>
            </a:r>
          </a:p>
        </p:txBody>
      </p:sp>
    </p:spTree>
    <p:extLst>
      <p:ext uri="{BB962C8B-B14F-4D97-AF65-F5344CB8AC3E}">
        <p14:creationId xmlns:p14="http://schemas.microsoft.com/office/powerpoint/2010/main" val="206354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97190-E368-2D17-FFC5-5907A340A2CC}"/>
              </a:ext>
            </a:extLst>
          </p:cNvPr>
          <p:cNvSpPr>
            <a:spLocks noGrp="1"/>
          </p:cNvSpPr>
          <p:nvPr>
            <p:ph type="title"/>
          </p:nvPr>
        </p:nvSpPr>
        <p:spPr/>
        <p:txBody>
          <a:bodyPr>
            <a:normAutofit/>
          </a:bodyPr>
          <a:lstStyle/>
          <a:p>
            <a:r>
              <a:rPr lang="en-US" sz="4400" dirty="0"/>
              <a:t>Missing Data</a:t>
            </a:r>
            <a:endParaRPr lang="en-IN" sz="4400" dirty="0"/>
          </a:p>
        </p:txBody>
      </p:sp>
      <p:sp>
        <p:nvSpPr>
          <p:cNvPr id="3" name="TextBox 2">
            <a:extLst>
              <a:ext uri="{FF2B5EF4-FFF2-40B4-BE49-F238E27FC236}">
                <a16:creationId xmlns:a16="http://schemas.microsoft.com/office/drawing/2014/main" id="{C6B6F4B6-40DB-5910-3B96-B58900D2459F}"/>
              </a:ext>
            </a:extLst>
          </p:cNvPr>
          <p:cNvSpPr txBox="1"/>
          <p:nvPr/>
        </p:nvSpPr>
        <p:spPr>
          <a:xfrm>
            <a:off x="502920" y="1353529"/>
            <a:ext cx="1669047" cy="523220"/>
          </a:xfrm>
          <a:prstGeom prst="rect">
            <a:avLst/>
          </a:prstGeom>
          <a:noFill/>
        </p:spPr>
        <p:txBody>
          <a:bodyPr wrap="none" rtlCol="0">
            <a:spAutoFit/>
          </a:bodyPr>
          <a:lstStyle/>
          <a:p>
            <a:r>
              <a:rPr lang="en-US" sz="2800" b="1" dirty="0">
                <a:solidFill>
                  <a:schemeClr val="accent2">
                    <a:lumMod val="75000"/>
                  </a:schemeClr>
                </a:solidFill>
              </a:rPr>
              <a:t>Findings</a:t>
            </a:r>
            <a:endParaRPr lang="en-IN" b="1" dirty="0">
              <a:solidFill>
                <a:schemeClr val="accent2">
                  <a:lumMod val="75000"/>
                </a:schemeClr>
              </a:solidFill>
            </a:endParaRPr>
          </a:p>
        </p:txBody>
      </p:sp>
      <p:sp>
        <p:nvSpPr>
          <p:cNvPr id="4" name="TextBox 3">
            <a:extLst>
              <a:ext uri="{FF2B5EF4-FFF2-40B4-BE49-F238E27FC236}">
                <a16:creationId xmlns:a16="http://schemas.microsoft.com/office/drawing/2014/main" id="{406AC8BD-4CC3-128C-4E4E-7248F8B113BA}"/>
              </a:ext>
            </a:extLst>
          </p:cNvPr>
          <p:cNvSpPr txBox="1"/>
          <p:nvPr/>
        </p:nvSpPr>
        <p:spPr>
          <a:xfrm>
            <a:off x="502920" y="2001519"/>
            <a:ext cx="11211560" cy="4154984"/>
          </a:xfrm>
          <a:prstGeom prst="rect">
            <a:avLst/>
          </a:prstGeom>
          <a:noFill/>
        </p:spPr>
        <p:txBody>
          <a:bodyPr wrap="square" rtlCol="0">
            <a:spAutoFit/>
          </a:bodyPr>
          <a:lstStyle/>
          <a:p>
            <a:pPr marL="285750" indent="-285750">
              <a:buFont typeface="Arial" panose="020B0604020202020204" pitchFamily="34" charset="0"/>
              <a:buChar char="•"/>
            </a:pPr>
            <a:r>
              <a:rPr lang="en-US" sz="2400" dirty="0"/>
              <a:t>Out of 556,469 total rows, 7 columns contain missing values, totaling 5237 missing entries across the dataset. Overall missingness is low (=&lt;0.22% per column)</a:t>
            </a:r>
          </a:p>
          <a:p>
            <a:pPr marL="285750" indent="-285750">
              <a:buFont typeface="Arial" panose="020B0604020202020204" pitchFamily="34" charset="0"/>
              <a:buChar char="•"/>
            </a:pPr>
            <a:r>
              <a:rPr lang="en-IN" sz="2400" dirty="0"/>
              <a:t>For features with less missing values – can use regression to predict the missing values of fill with the mean of the values present, depending on the feature.</a:t>
            </a:r>
          </a:p>
          <a:p>
            <a:pPr marL="285750" indent="-285750">
              <a:buFont typeface="Arial" panose="020B0604020202020204" pitchFamily="34" charset="0"/>
              <a:buChar char="•"/>
            </a:pPr>
            <a:r>
              <a:rPr lang="en-IN" sz="2400" dirty="0"/>
              <a:t>For features with very high number of missing values – it is better to drop those columns as they give very less insights on analysis.</a:t>
            </a:r>
          </a:p>
          <a:p>
            <a:pPr marL="285750" indent="-285750">
              <a:buFont typeface="Arial" panose="020B0604020202020204" pitchFamily="34" charset="0"/>
              <a:buChar char="•"/>
            </a:pPr>
            <a:r>
              <a:rPr lang="en-IN" sz="2400" dirty="0"/>
              <a:t>As there’s no thumb rule on what criteria do we delete the columns with high number of missing values, we have done a small analysis and have taken decisions, Analysis to be continued in next slides…..</a:t>
            </a:r>
          </a:p>
        </p:txBody>
      </p:sp>
    </p:spTree>
    <p:extLst>
      <p:ext uri="{BB962C8B-B14F-4D97-AF65-F5344CB8AC3E}">
        <p14:creationId xmlns:p14="http://schemas.microsoft.com/office/powerpoint/2010/main" val="2825986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1669F-5C7C-EB09-A378-0FE76C581B21}"/>
              </a:ext>
            </a:extLst>
          </p:cNvPr>
          <p:cNvSpPr>
            <a:spLocks noGrp="1"/>
          </p:cNvSpPr>
          <p:nvPr>
            <p:ph type="title"/>
          </p:nvPr>
        </p:nvSpPr>
        <p:spPr>
          <a:xfrm>
            <a:off x="489713" y="548640"/>
            <a:ext cx="4326127" cy="1250696"/>
          </a:xfrm>
        </p:spPr>
        <p:txBody>
          <a:bodyPr>
            <a:normAutofit/>
          </a:bodyPr>
          <a:lstStyle/>
          <a:p>
            <a:r>
              <a:rPr lang="en-US" sz="4400" dirty="0"/>
              <a:t>Initial Intuition from  the data</a:t>
            </a:r>
            <a:endParaRPr lang="en-IN" sz="4400" dirty="0"/>
          </a:p>
        </p:txBody>
      </p:sp>
      <p:pic>
        <p:nvPicPr>
          <p:cNvPr id="5" name="Content Placeholder 4">
            <a:extLst>
              <a:ext uri="{FF2B5EF4-FFF2-40B4-BE49-F238E27FC236}">
                <a16:creationId xmlns:a16="http://schemas.microsoft.com/office/drawing/2014/main" id="{6B2DEEAB-A576-C875-347F-5EAA3FA78765}"/>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5315886" y="242553"/>
            <a:ext cx="6601794" cy="2825767"/>
          </a:xfrm>
          <a:prstGeom prst="rect">
            <a:avLst/>
          </a:prstGeom>
        </p:spPr>
      </p:pic>
      <p:sp>
        <p:nvSpPr>
          <p:cNvPr id="7" name="TextBox 6">
            <a:extLst>
              <a:ext uri="{FF2B5EF4-FFF2-40B4-BE49-F238E27FC236}">
                <a16:creationId xmlns:a16="http://schemas.microsoft.com/office/drawing/2014/main" id="{017E5A27-203B-6BDE-C647-4A13007CD3DC}"/>
              </a:ext>
            </a:extLst>
          </p:cNvPr>
          <p:cNvSpPr txBox="1"/>
          <p:nvPr/>
        </p:nvSpPr>
        <p:spPr>
          <a:xfrm>
            <a:off x="489713" y="1799336"/>
            <a:ext cx="1669047" cy="523220"/>
          </a:xfrm>
          <a:prstGeom prst="rect">
            <a:avLst/>
          </a:prstGeom>
          <a:noFill/>
        </p:spPr>
        <p:txBody>
          <a:bodyPr wrap="none" rtlCol="0">
            <a:spAutoFit/>
          </a:bodyPr>
          <a:lstStyle/>
          <a:p>
            <a:r>
              <a:rPr lang="en-US" sz="2800" b="1" dirty="0">
                <a:solidFill>
                  <a:schemeClr val="accent2">
                    <a:lumMod val="75000"/>
                  </a:schemeClr>
                </a:solidFill>
              </a:rPr>
              <a:t>Findings</a:t>
            </a:r>
            <a:endParaRPr lang="en-IN" b="1" dirty="0">
              <a:solidFill>
                <a:schemeClr val="accent2">
                  <a:lumMod val="75000"/>
                </a:schemeClr>
              </a:solidFill>
            </a:endParaRPr>
          </a:p>
        </p:txBody>
      </p:sp>
      <p:sp>
        <p:nvSpPr>
          <p:cNvPr id="9" name="TextBox 8">
            <a:extLst>
              <a:ext uri="{FF2B5EF4-FFF2-40B4-BE49-F238E27FC236}">
                <a16:creationId xmlns:a16="http://schemas.microsoft.com/office/drawing/2014/main" id="{9F4E664C-51CA-F2ED-1690-3EA1E8E3D66B}"/>
              </a:ext>
            </a:extLst>
          </p:cNvPr>
          <p:cNvSpPr txBox="1"/>
          <p:nvPr/>
        </p:nvSpPr>
        <p:spPr>
          <a:xfrm>
            <a:off x="489713" y="2600960"/>
            <a:ext cx="11427967" cy="3754874"/>
          </a:xfrm>
          <a:prstGeom prst="rect">
            <a:avLst/>
          </a:prstGeom>
          <a:noFill/>
        </p:spPr>
        <p:txBody>
          <a:bodyPr wrap="square" rtlCol="0">
            <a:spAutoFit/>
          </a:bodyPr>
          <a:lstStyle/>
          <a:p>
            <a:pPr marL="285750" indent="-285750">
              <a:buFont typeface="Arial" panose="020B0604020202020204" pitchFamily="34" charset="0"/>
              <a:buChar char="•"/>
            </a:pPr>
            <a:r>
              <a:rPr lang="en-US" sz="2000" b="1" dirty="0">
                <a:solidFill>
                  <a:srgbClr val="FFFF00"/>
                </a:solidFill>
              </a:rPr>
              <a:t>Nearly Perfect Data Quality</a:t>
            </a:r>
            <a:r>
              <a:rPr lang="en-US" sz="2000" dirty="0"/>
              <a:t>: Almost </a:t>
            </a:r>
          </a:p>
          <a:p>
            <a:r>
              <a:rPr lang="en-US" sz="2000" dirty="0"/>
              <a:t>     every column is completely full. The </a:t>
            </a:r>
          </a:p>
          <a:p>
            <a:r>
              <a:rPr lang="en-US" sz="2000" dirty="0"/>
              <a:t>     missing values are so tiny (less than 0.25% in any column) that almost no data need to be   </a:t>
            </a:r>
          </a:p>
          <a:p>
            <a:r>
              <a:rPr lang="en-US" sz="2000" dirty="0"/>
              <a:t>     thrown away.</a:t>
            </a:r>
          </a:p>
          <a:p>
            <a:pPr marL="285750" indent="-285750">
              <a:buFont typeface="Arial" panose="020B0604020202020204" pitchFamily="34" charset="0"/>
              <a:buChar char="•"/>
            </a:pPr>
            <a:r>
              <a:rPr lang="en-US" sz="2000" b="1" dirty="0">
                <a:solidFill>
                  <a:srgbClr val="FFFF00"/>
                </a:solidFill>
              </a:rPr>
              <a:t>Key Information is 100% Present</a:t>
            </a:r>
            <a:r>
              <a:rPr lang="en-US" sz="2000" dirty="0"/>
              <a:t>: Essential columns like fraud labels (</a:t>
            </a:r>
            <a:r>
              <a:rPr lang="en-US" sz="2000" dirty="0" err="1"/>
              <a:t>is_fraud</a:t>
            </a:r>
            <a:r>
              <a:rPr lang="en-US" sz="2000" dirty="0"/>
              <a:t>) transaction amount, dates, and locations have zero missing values.</a:t>
            </a:r>
          </a:p>
          <a:p>
            <a:pPr marL="285750" indent="-285750">
              <a:buFont typeface="Arial" panose="020B0604020202020204" pitchFamily="34" charset="0"/>
              <a:buChar char="•"/>
            </a:pPr>
            <a:r>
              <a:rPr lang="en-US" sz="2000" b="1" dirty="0">
                <a:solidFill>
                  <a:srgbClr val="FFFF00"/>
                </a:solidFill>
              </a:rPr>
              <a:t>Only a Few Columns need Cleaning</a:t>
            </a:r>
            <a:r>
              <a:rPr lang="en-US" sz="2000" dirty="0"/>
              <a:t>: Missing value only show up in a handful of field – mostly merchant names, job titles, spending categories, and cities.</a:t>
            </a:r>
          </a:p>
          <a:p>
            <a:pPr marL="285750" indent="-285750">
              <a:buFont typeface="Arial" panose="020B0604020202020204" pitchFamily="34" charset="0"/>
              <a:buChar char="•"/>
            </a:pPr>
            <a:r>
              <a:rPr lang="en-US" sz="2000" b="1" dirty="0">
                <a:solidFill>
                  <a:srgbClr val="FFFF00"/>
                </a:solidFill>
              </a:rPr>
              <a:t>Quick and Easy Fixes</a:t>
            </a:r>
            <a:r>
              <a:rPr lang="en-US" sz="2000" dirty="0"/>
              <a:t>: Because so little is missing, filling in the gaps (like looking up missing cities using zip codes or filling empty amount) can be done quickly without messing up the dataset.</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271153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1A956-A946-8E1F-3CCB-EE75738914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64D8A7-E2E2-8990-7369-0CBD94349C96}"/>
              </a:ext>
            </a:extLst>
          </p:cNvPr>
          <p:cNvSpPr>
            <a:spLocks noGrp="1"/>
          </p:cNvSpPr>
          <p:nvPr>
            <p:ph type="ctrTitle"/>
          </p:nvPr>
        </p:nvSpPr>
        <p:spPr/>
        <p:txBody>
          <a:bodyPr/>
          <a:lstStyle/>
          <a:p>
            <a:r>
              <a:rPr lang="en-US" dirty="0"/>
              <a:t>Categorical Analysis</a:t>
            </a:r>
            <a:endParaRPr lang="en-IN" dirty="0"/>
          </a:p>
        </p:txBody>
      </p:sp>
    </p:spTree>
    <p:extLst>
      <p:ext uri="{BB962C8B-B14F-4D97-AF65-F5344CB8AC3E}">
        <p14:creationId xmlns:p14="http://schemas.microsoft.com/office/powerpoint/2010/main" val="1730721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53C942-82EC-63A4-B33A-0BB60EABC783}"/>
              </a:ext>
            </a:extLst>
          </p:cNvPr>
          <p:cNvSpPr txBox="1"/>
          <p:nvPr/>
        </p:nvSpPr>
        <p:spPr>
          <a:xfrm>
            <a:off x="275303" y="314632"/>
            <a:ext cx="2408903" cy="1077218"/>
          </a:xfrm>
          <a:prstGeom prst="rect">
            <a:avLst/>
          </a:prstGeom>
          <a:noFill/>
        </p:spPr>
        <p:txBody>
          <a:bodyPr wrap="square" rtlCol="0">
            <a:spAutoFit/>
          </a:bodyPr>
          <a:lstStyle/>
          <a:p>
            <a:r>
              <a:rPr lang="en-US" sz="3200" b="1" dirty="0"/>
              <a:t>Univariate</a:t>
            </a:r>
            <a:br>
              <a:rPr lang="en-US" sz="3200" b="1" dirty="0"/>
            </a:br>
            <a:r>
              <a:rPr lang="en-US" sz="3200" b="1" dirty="0"/>
              <a:t>Analysis</a:t>
            </a:r>
          </a:p>
        </p:txBody>
      </p:sp>
      <p:pic>
        <p:nvPicPr>
          <p:cNvPr id="12" name="Picture 11">
            <a:extLst>
              <a:ext uri="{FF2B5EF4-FFF2-40B4-BE49-F238E27FC236}">
                <a16:creationId xmlns:a16="http://schemas.microsoft.com/office/drawing/2014/main" id="{4BECC671-0D8D-70F3-AE93-75DB5A87FE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2917" y="3132786"/>
            <a:ext cx="5053780" cy="3471442"/>
          </a:xfrm>
          <a:prstGeom prst="rect">
            <a:avLst/>
          </a:prstGeom>
        </p:spPr>
      </p:pic>
      <p:pic>
        <p:nvPicPr>
          <p:cNvPr id="14" name="Picture 13">
            <a:extLst>
              <a:ext uri="{FF2B5EF4-FFF2-40B4-BE49-F238E27FC236}">
                <a16:creationId xmlns:a16="http://schemas.microsoft.com/office/drawing/2014/main" id="{74EDC887-2509-F9E0-2B1B-E78E47239C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2917" y="314632"/>
            <a:ext cx="3967112" cy="2509684"/>
          </a:xfrm>
          <a:prstGeom prst="rect">
            <a:avLst/>
          </a:prstGeom>
        </p:spPr>
      </p:pic>
      <p:sp>
        <p:nvSpPr>
          <p:cNvPr id="15" name="TextBox 14">
            <a:extLst>
              <a:ext uri="{FF2B5EF4-FFF2-40B4-BE49-F238E27FC236}">
                <a16:creationId xmlns:a16="http://schemas.microsoft.com/office/drawing/2014/main" id="{F5D39CB2-0FEB-6F39-6CBE-00DE89CF6CFC}"/>
              </a:ext>
            </a:extLst>
          </p:cNvPr>
          <p:cNvSpPr txBox="1"/>
          <p:nvPr/>
        </p:nvSpPr>
        <p:spPr>
          <a:xfrm>
            <a:off x="275303" y="3675327"/>
            <a:ext cx="1526380" cy="461665"/>
          </a:xfrm>
          <a:prstGeom prst="rect">
            <a:avLst/>
          </a:prstGeom>
          <a:noFill/>
        </p:spPr>
        <p:txBody>
          <a:bodyPr wrap="none" rtlCol="0">
            <a:spAutoFit/>
          </a:bodyPr>
          <a:lstStyle/>
          <a:p>
            <a:r>
              <a:rPr lang="en-US" sz="2400" b="1" dirty="0">
                <a:solidFill>
                  <a:schemeClr val="accent2">
                    <a:lumMod val="75000"/>
                  </a:schemeClr>
                </a:solidFill>
              </a:rPr>
              <a:t>Findings</a:t>
            </a:r>
            <a:r>
              <a:rPr lang="en-US" sz="2000" b="1" dirty="0">
                <a:solidFill>
                  <a:schemeClr val="accent2">
                    <a:lumMod val="75000"/>
                  </a:schemeClr>
                </a:solidFill>
              </a:rPr>
              <a:t>:</a:t>
            </a:r>
            <a:endParaRPr lang="en-IN" sz="2000" b="1" dirty="0">
              <a:solidFill>
                <a:schemeClr val="accent2">
                  <a:lumMod val="75000"/>
                </a:schemeClr>
              </a:solidFill>
            </a:endParaRPr>
          </a:p>
        </p:txBody>
      </p:sp>
      <p:sp>
        <p:nvSpPr>
          <p:cNvPr id="19" name="TextBox 18">
            <a:extLst>
              <a:ext uri="{FF2B5EF4-FFF2-40B4-BE49-F238E27FC236}">
                <a16:creationId xmlns:a16="http://schemas.microsoft.com/office/drawing/2014/main" id="{3EE37E50-E340-03FC-C414-916BA4289593}"/>
              </a:ext>
            </a:extLst>
          </p:cNvPr>
          <p:cNvSpPr txBox="1"/>
          <p:nvPr/>
        </p:nvSpPr>
        <p:spPr>
          <a:xfrm>
            <a:off x="275303" y="4112145"/>
            <a:ext cx="4935794" cy="2308324"/>
          </a:xfrm>
          <a:prstGeom prst="rect">
            <a:avLst/>
          </a:prstGeom>
          <a:noFill/>
        </p:spPr>
        <p:txBody>
          <a:bodyPr wrap="square" rtlCol="0">
            <a:spAutoFit/>
          </a:bodyPr>
          <a:lstStyle/>
          <a:p>
            <a:r>
              <a:rPr lang="en-US" dirty="0"/>
              <a:t>As per gender, female are using credit card more than male. Most probably, females are the more likely to be fraud. As per categories, gas transport has more transactions but if we combine shopping pos &amp; shopping net, then it is high. There might be more frauds in shopping or gas transport. We will deep dive into it in further slides…..</a:t>
            </a:r>
            <a:endParaRPr lang="en-IN" dirty="0"/>
          </a:p>
        </p:txBody>
      </p:sp>
      <p:pic>
        <p:nvPicPr>
          <p:cNvPr id="21" name="Picture 20">
            <a:extLst>
              <a:ext uri="{FF2B5EF4-FFF2-40B4-BE49-F238E27FC236}">
                <a16:creationId xmlns:a16="http://schemas.microsoft.com/office/drawing/2014/main" id="{4AED50ED-7A45-FB59-7666-C4DA224852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36933" y="853241"/>
            <a:ext cx="4503960" cy="3127204"/>
          </a:xfrm>
          <a:prstGeom prst="rect">
            <a:avLst/>
          </a:prstGeom>
        </p:spPr>
      </p:pic>
    </p:spTree>
    <p:extLst>
      <p:ext uri="{BB962C8B-B14F-4D97-AF65-F5344CB8AC3E}">
        <p14:creationId xmlns:p14="http://schemas.microsoft.com/office/powerpoint/2010/main" val="2998707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C0E3AD-7C46-0623-D036-21E148AFBF20}"/>
              </a:ext>
            </a:extLst>
          </p:cNvPr>
          <p:cNvSpPr txBox="1"/>
          <p:nvPr/>
        </p:nvSpPr>
        <p:spPr>
          <a:xfrm>
            <a:off x="3303408" y="304799"/>
            <a:ext cx="5585183" cy="584775"/>
          </a:xfrm>
          <a:prstGeom prst="rect">
            <a:avLst/>
          </a:prstGeom>
          <a:noFill/>
        </p:spPr>
        <p:txBody>
          <a:bodyPr wrap="none" rtlCol="0">
            <a:spAutoFit/>
          </a:bodyPr>
          <a:lstStyle/>
          <a:p>
            <a:r>
              <a:rPr lang="en-US" sz="3200" b="1" dirty="0"/>
              <a:t>Gender v/s Target Variable</a:t>
            </a:r>
          </a:p>
        </p:txBody>
      </p:sp>
      <p:pic>
        <p:nvPicPr>
          <p:cNvPr id="4" name="Picture 3">
            <a:extLst>
              <a:ext uri="{FF2B5EF4-FFF2-40B4-BE49-F238E27FC236}">
                <a16:creationId xmlns:a16="http://schemas.microsoft.com/office/drawing/2014/main" id="{9E018B12-3C1F-F692-711D-A83088E521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950" y="1065122"/>
            <a:ext cx="9400100" cy="3299238"/>
          </a:xfrm>
          <a:prstGeom prst="rect">
            <a:avLst/>
          </a:prstGeom>
        </p:spPr>
      </p:pic>
      <p:sp>
        <p:nvSpPr>
          <p:cNvPr id="5" name="TextBox 4">
            <a:extLst>
              <a:ext uri="{FF2B5EF4-FFF2-40B4-BE49-F238E27FC236}">
                <a16:creationId xmlns:a16="http://schemas.microsoft.com/office/drawing/2014/main" id="{691BD8A6-9220-3F71-E46B-AF8D27AF8B70}"/>
              </a:ext>
            </a:extLst>
          </p:cNvPr>
          <p:cNvSpPr txBox="1"/>
          <p:nvPr/>
        </p:nvSpPr>
        <p:spPr>
          <a:xfrm>
            <a:off x="285136" y="4364360"/>
            <a:ext cx="1539204" cy="461665"/>
          </a:xfrm>
          <a:prstGeom prst="rect">
            <a:avLst/>
          </a:prstGeom>
          <a:noFill/>
        </p:spPr>
        <p:txBody>
          <a:bodyPr wrap="none" rtlCol="0">
            <a:spAutoFit/>
          </a:bodyPr>
          <a:lstStyle/>
          <a:p>
            <a:r>
              <a:rPr lang="en-US" sz="2400" b="1" dirty="0">
                <a:solidFill>
                  <a:schemeClr val="accent2">
                    <a:lumMod val="75000"/>
                  </a:schemeClr>
                </a:solidFill>
              </a:rPr>
              <a:t>Findings:</a:t>
            </a:r>
            <a:endParaRPr lang="en-IN" sz="2400" b="1" dirty="0">
              <a:solidFill>
                <a:schemeClr val="accent2">
                  <a:lumMod val="75000"/>
                </a:schemeClr>
              </a:solidFill>
            </a:endParaRPr>
          </a:p>
        </p:txBody>
      </p:sp>
      <p:sp>
        <p:nvSpPr>
          <p:cNvPr id="6" name="TextBox 5">
            <a:extLst>
              <a:ext uri="{FF2B5EF4-FFF2-40B4-BE49-F238E27FC236}">
                <a16:creationId xmlns:a16="http://schemas.microsoft.com/office/drawing/2014/main" id="{FEFA15D8-7ADF-60D7-FB60-D8F5E5A26206}"/>
              </a:ext>
            </a:extLst>
          </p:cNvPr>
          <p:cNvSpPr txBox="1"/>
          <p:nvPr/>
        </p:nvSpPr>
        <p:spPr>
          <a:xfrm>
            <a:off x="1395950" y="4935793"/>
            <a:ext cx="94001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As per the data, female are doing almost 3.05 lakhs transactions. In those transaction, there are 0.38% frauds.</a:t>
            </a:r>
          </a:p>
          <a:p>
            <a:pPr marL="285750" indent="-285750">
              <a:buFont typeface="Arial" panose="020B0604020202020204" pitchFamily="34" charset="0"/>
              <a:buChar char="•"/>
            </a:pPr>
            <a:r>
              <a:rPr lang="en-US" dirty="0"/>
              <a:t>As per male category, it is almost same 0.39% frauds.</a:t>
            </a:r>
          </a:p>
          <a:p>
            <a:pPr marL="285750" indent="-285750">
              <a:buFont typeface="Arial" panose="020B0604020202020204" pitchFamily="34" charset="0"/>
              <a:buChar char="•"/>
            </a:pPr>
            <a:r>
              <a:rPr lang="en-US" dirty="0"/>
              <a:t>In the conclusion, both are the part of fraudulent category.</a:t>
            </a:r>
            <a:endParaRPr lang="en-IN" dirty="0"/>
          </a:p>
        </p:txBody>
      </p:sp>
    </p:spTree>
    <p:extLst>
      <p:ext uri="{BB962C8B-B14F-4D97-AF65-F5344CB8AC3E}">
        <p14:creationId xmlns:p14="http://schemas.microsoft.com/office/powerpoint/2010/main" val="2406091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5CE5C2-5824-A61C-388C-0C96F42AD52F}"/>
              </a:ext>
            </a:extLst>
          </p:cNvPr>
          <p:cNvSpPr txBox="1"/>
          <p:nvPr/>
        </p:nvSpPr>
        <p:spPr>
          <a:xfrm>
            <a:off x="142126" y="186813"/>
            <a:ext cx="5953874" cy="584775"/>
          </a:xfrm>
          <a:prstGeom prst="rect">
            <a:avLst/>
          </a:prstGeom>
          <a:noFill/>
        </p:spPr>
        <p:txBody>
          <a:bodyPr wrap="none" rtlCol="0">
            <a:spAutoFit/>
          </a:bodyPr>
          <a:lstStyle/>
          <a:p>
            <a:r>
              <a:rPr lang="en-US" sz="3200" b="1" dirty="0"/>
              <a:t>Category v/s Target Variable</a:t>
            </a:r>
          </a:p>
        </p:txBody>
      </p:sp>
      <p:pic>
        <p:nvPicPr>
          <p:cNvPr id="4" name="Picture 3">
            <a:extLst>
              <a:ext uri="{FF2B5EF4-FFF2-40B4-BE49-F238E27FC236}">
                <a16:creationId xmlns:a16="http://schemas.microsoft.com/office/drawing/2014/main" id="{BB87052F-1372-8A93-9FF6-8E176344BF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9079" y="321903"/>
            <a:ext cx="2877858" cy="2143381"/>
          </a:xfrm>
          <a:prstGeom prst="rect">
            <a:avLst/>
          </a:prstGeom>
        </p:spPr>
      </p:pic>
      <p:pic>
        <p:nvPicPr>
          <p:cNvPr id="6" name="Picture 5">
            <a:extLst>
              <a:ext uri="{FF2B5EF4-FFF2-40B4-BE49-F238E27FC236}">
                <a16:creationId xmlns:a16="http://schemas.microsoft.com/office/drawing/2014/main" id="{EB4E8022-F9EB-CB8B-C92B-E28BA60A9A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9079" y="2654710"/>
            <a:ext cx="5785463" cy="3881387"/>
          </a:xfrm>
          <a:prstGeom prst="rect">
            <a:avLst/>
          </a:prstGeom>
        </p:spPr>
      </p:pic>
      <p:sp>
        <p:nvSpPr>
          <p:cNvPr id="9" name="TextBox 8">
            <a:extLst>
              <a:ext uri="{FF2B5EF4-FFF2-40B4-BE49-F238E27FC236}">
                <a16:creationId xmlns:a16="http://schemas.microsoft.com/office/drawing/2014/main" id="{8A5BD9BE-4FDA-04A3-D6BC-9A11F536D292}"/>
              </a:ext>
            </a:extLst>
          </p:cNvPr>
          <p:cNvSpPr txBox="1"/>
          <p:nvPr/>
        </p:nvSpPr>
        <p:spPr>
          <a:xfrm>
            <a:off x="304800" y="1140542"/>
            <a:ext cx="1539204" cy="461665"/>
          </a:xfrm>
          <a:prstGeom prst="rect">
            <a:avLst/>
          </a:prstGeom>
          <a:noFill/>
        </p:spPr>
        <p:txBody>
          <a:bodyPr wrap="none" rtlCol="0">
            <a:spAutoFit/>
          </a:bodyPr>
          <a:lstStyle/>
          <a:p>
            <a:r>
              <a:rPr lang="en-US" sz="2400" b="1" dirty="0">
                <a:solidFill>
                  <a:schemeClr val="accent2">
                    <a:lumMod val="75000"/>
                  </a:schemeClr>
                </a:solidFill>
              </a:rPr>
              <a:t>Findings:</a:t>
            </a:r>
            <a:endParaRPr lang="en-IN" sz="2400" b="1" dirty="0">
              <a:solidFill>
                <a:schemeClr val="accent2">
                  <a:lumMod val="75000"/>
                </a:schemeClr>
              </a:solidFill>
            </a:endParaRPr>
          </a:p>
        </p:txBody>
      </p:sp>
      <p:sp>
        <p:nvSpPr>
          <p:cNvPr id="10" name="TextBox 9">
            <a:extLst>
              <a:ext uri="{FF2B5EF4-FFF2-40B4-BE49-F238E27FC236}">
                <a16:creationId xmlns:a16="http://schemas.microsoft.com/office/drawing/2014/main" id="{33D25EAB-68EB-CA07-160B-F4FE91D08E15}"/>
              </a:ext>
            </a:extLst>
          </p:cNvPr>
          <p:cNvSpPr txBox="1"/>
          <p:nvPr/>
        </p:nvSpPr>
        <p:spPr>
          <a:xfrm>
            <a:off x="304800" y="1671483"/>
            <a:ext cx="5181600" cy="4524315"/>
          </a:xfrm>
          <a:prstGeom prst="rect">
            <a:avLst/>
          </a:prstGeom>
          <a:noFill/>
        </p:spPr>
        <p:txBody>
          <a:bodyPr wrap="square" rtlCol="0">
            <a:spAutoFit/>
          </a:bodyPr>
          <a:lstStyle/>
          <a:p>
            <a:pPr marL="285750" indent="-285750">
              <a:buFont typeface="Arial" panose="020B0604020202020204" pitchFamily="34" charset="0"/>
              <a:buChar char="•"/>
            </a:pPr>
            <a:r>
              <a:rPr lang="en-US" dirty="0"/>
              <a:t>As per the data, we can easily analyze and say </a:t>
            </a:r>
            <a:r>
              <a:rPr lang="en-US" dirty="0" err="1"/>
              <a:t>shopping_net</a:t>
            </a:r>
            <a:r>
              <a:rPr lang="en-US" dirty="0"/>
              <a:t> has more fraudulent transactions. It mean people who are doing online shopping, are more likely to be fraud.</a:t>
            </a:r>
          </a:p>
          <a:p>
            <a:pPr marL="285750" indent="-285750">
              <a:buFont typeface="Arial" panose="020B0604020202020204" pitchFamily="34" charset="0"/>
              <a:buChar char="•"/>
            </a:pPr>
            <a:r>
              <a:rPr lang="en-US" dirty="0"/>
              <a:t>As per the data </a:t>
            </a:r>
            <a:r>
              <a:rPr lang="en-US" dirty="0" err="1"/>
              <a:t>shopping_net</a:t>
            </a:r>
            <a:r>
              <a:rPr lang="en-US" dirty="0"/>
              <a:t> has 1.2% fraud rate and </a:t>
            </a:r>
            <a:r>
              <a:rPr lang="en-US" dirty="0" err="1"/>
              <a:t>gas_transport</a:t>
            </a:r>
            <a:r>
              <a:rPr lang="en-US" dirty="0"/>
              <a:t> has only 0.2% fraud rate.</a:t>
            </a:r>
          </a:p>
          <a:p>
            <a:pPr marL="285750" indent="-285750">
              <a:buFont typeface="Arial" panose="020B0604020202020204" pitchFamily="34" charset="0"/>
              <a:buChar char="•"/>
            </a:pPr>
            <a:r>
              <a:rPr lang="en-US" dirty="0"/>
              <a:t>We have noticed one thing also, </a:t>
            </a:r>
            <a:r>
              <a:rPr lang="en-US" dirty="0" err="1"/>
              <a:t>grocery_pos</a:t>
            </a:r>
            <a:r>
              <a:rPr lang="en-US" dirty="0"/>
              <a:t> has 486 fraudulent transactions out of 52000 transactions 0.93% fraud rate. </a:t>
            </a:r>
          </a:p>
          <a:p>
            <a:pPr marL="285750" indent="-285750">
              <a:buFont typeface="Arial" panose="020B0604020202020204" pitchFamily="34" charset="0"/>
              <a:buChar char="•"/>
            </a:pPr>
            <a:r>
              <a:rPr lang="en-US" dirty="0"/>
              <a:t>If we analyze the </a:t>
            </a:r>
            <a:r>
              <a:rPr lang="en-US" dirty="0" err="1"/>
              <a:t>misc_net</a:t>
            </a:r>
            <a:r>
              <a:rPr lang="en-US" dirty="0"/>
              <a:t>, then we find that it has also the same 0.95% fraud rate.</a:t>
            </a:r>
          </a:p>
          <a:p>
            <a:pPr marL="285750" indent="-285750">
              <a:buFont typeface="Arial" panose="020B0604020202020204" pitchFamily="34" charset="0"/>
              <a:buChar char="•"/>
            </a:pPr>
            <a:r>
              <a:rPr lang="en-US" dirty="0"/>
              <a:t>In conclusion, people who are doing online shopping, are more likely to be fraud credit card users.</a:t>
            </a:r>
            <a:endParaRPr lang="en-IN" dirty="0"/>
          </a:p>
        </p:txBody>
      </p:sp>
    </p:spTree>
    <p:extLst>
      <p:ext uri="{BB962C8B-B14F-4D97-AF65-F5344CB8AC3E}">
        <p14:creationId xmlns:p14="http://schemas.microsoft.com/office/powerpoint/2010/main" val="3526106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D13FBB-A708-D2D5-F75B-263935DB7745}"/>
              </a:ext>
            </a:extLst>
          </p:cNvPr>
          <p:cNvSpPr txBox="1"/>
          <p:nvPr/>
        </p:nvSpPr>
        <p:spPr>
          <a:xfrm>
            <a:off x="103184" y="80711"/>
            <a:ext cx="9196748" cy="1077218"/>
          </a:xfrm>
          <a:prstGeom prst="rect">
            <a:avLst/>
          </a:prstGeom>
          <a:noFill/>
        </p:spPr>
        <p:txBody>
          <a:bodyPr wrap="none" rtlCol="0">
            <a:spAutoFit/>
          </a:bodyPr>
          <a:lstStyle/>
          <a:p>
            <a:r>
              <a:rPr lang="en-US" sz="3200" b="1" dirty="0"/>
              <a:t>Top 10 Merchants &amp; Top 10 Fraud Merchants </a:t>
            </a:r>
          </a:p>
          <a:p>
            <a:r>
              <a:rPr lang="en-US" sz="3200" b="1" dirty="0"/>
              <a:t>based on the transaction count</a:t>
            </a:r>
            <a:endParaRPr lang="en-IN" sz="3200" b="1" dirty="0"/>
          </a:p>
        </p:txBody>
      </p:sp>
      <p:pic>
        <p:nvPicPr>
          <p:cNvPr id="4" name="Picture 3">
            <a:extLst>
              <a:ext uri="{FF2B5EF4-FFF2-40B4-BE49-F238E27FC236}">
                <a16:creationId xmlns:a16="http://schemas.microsoft.com/office/drawing/2014/main" id="{29E05AE7-0D2A-650B-05D5-ABCF43CC94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4976" y="1157929"/>
            <a:ext cx="5688977" cy="3110423"/>
          </a:xfrm>
          <a:prstGeom prst="rect">
            <a:avLst/>
          </a:prstGeom>
        </p:spPr>
      </p:pic>
      <p:pic>
        <p:nvPicPr>
          <p:cNvPr id="6" name="Picture 5">
            <a:extLst>
              <a:ext uri="{FF2B5EF4-FFF2-40B4-BE49-F238E27FC236}">
                <a16:creationId xmlns:a16="http://schemas.microsoft.com/office/drawing/2014/main" id="{1B9971BA-E364-3932-D82F-FAD0817F4B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190" y="1157929"/>
            <a:ext cx="6099662" cy="3110423"/>
          </a:xfrm>
          <a:prstGeom prst="rect">
            <a:avLst/>
          </a:prstGeom>
        </p:spPr>
      </p:pic>
      <p:sp>
        <p:nvSpPr>
          <p:cNvPr id="7" name="TextBox 6">
            <a:extLst>
              <a:ext uri="{FF2B5EF4-FFF2-40B4-BE49-F238E27FC236}">
                <a16:creationId xmlns:a16="http://schemas.microsoft.com/office/drawing/2014/main" id="{217EB000-B170-72EB-DB35-E5300FD9DF78}"/>
              </a:ext>
            </a:extLst>
          </p:cNvPr>
          <p:cNvSpPr txBox="1"/>
          <p:nvPr/>
        </p:nvSpPr>
        <p:spPr>
          <a:xfrm>
            <a:off x="103184" y="4248688"/>
            <a:ext cx="1539204" cy="461665"/>
          </a:xfrm>
          <a:prstGeom prst="rect">
            <a:avLst/>
          </a:prstGeom>
          <a:noFill/>
        </p:spPr>
        <p:txBody>
          <a:bodyPr wrap="none" rtlCol="0">
            <a:spAutoFit/>
          </a:bodyPr>
          <a:lstStyle/>
          <a:p>
            <a:r>
              <a:rPr lang="en-US" sz="2400" b="1" dirty="0">
                <a:solidFill>
                  <a:schemeClr val="accent2">
                    <a:lumMod val="75000"/>
                  </a:schemeClr>
                </a:solidFill>
              </a:rPr>
              <a:t>Findings:</a:t>
            </a:r>
            <a:endParaRPr lang="en-IN" sz="2400" b="1" dirty="0">
              <a:solidFill>
                <a:schemeClr val="accent2">
                  <a:lumMod val="75000"/>
                </a:schemeClr>
              </a:solidFill>
            </a:endParaRPr>
          </a:p>
        </p:txBody>
      </p:sp>
      <p:sp>
        <p:nvSpPr>
          <p:cNvPr id="8" name="TextBox 7">
            <a:extLst>
              <a:ext uri="{FF2B5EF4-FFF2-40B4-BE49-F238E27FC236}">
                <a16:creationId xmlns:a16="http://schemas.microsoft.com/office/drawing/2014/main" id="{3E4D136A-8DA6-53DA-29F8-893A4552514E}"/>
              </a:ext>
            </a:extLst>
          </p:cNvPr>
          <p:cNvSpPr txBox="1"/>
          <p:nvPr/>
        </p:nvSpPr>
        <p:spPr>
          <a:xfrm>
            <a:off x="160190" y="4710353"/>
            <a:ext cx="11776171" cy="1754326"/>
          </a:xfrm>
          <a:prstGeom prst="rect">
            <a:avLst/>
          </a:prstGeom>
          <a:noFill/>
        </p:spPr>
        <p:txBody>
          <a:bodyPr wrap="square" rtlCol="0">
            <a:spAutoFit/>
          </a:bodyPr>
          <a:lstStyle/>
          <a:p>
            <a:pPr marL="285750" indent="-285750">
              <a:buFont typeface="Arial" panose="020B0604020202020204" pitchFamily="34" charset="0"/>
              <a:buChar char="•"/>
            </a:pPr>
            <a:r>
              <a:rPr lang="en-US" dirty="0"/>
              <a:t>As per the given data, there are top 10 merchants who have most transaction counts and top 10 fraud merchants who have most transaction counts. There is one merchant </a:t>
            </a:r>
            <a:r>
              <a:rPr lang="en-US" dirty="0" err="1"/>
              <a:t>fraud_Killback</a:t>
            </a:r>
            <a:r>
              <a:rPr lang="en-US" dirty="0"/>
              <a:t> LLC has 15 fraud trans counts out of 1855 trans counts.</a:t>
            </a:r>
            <a:endParaRPr lang="en-IN" dirty="0"/>
          </a:p>
          <a:p>
            <a:pPr marL="285750" indent="-285750">
              <a:buFont typeface="Arial" panose="020B0604020202020204" pitchFamily="34" charset="0"/>
              <a:buChar char="•"/>
            </a:pPr>
            <a:r>
              <a:rPr lang="en-IN" dirty="0" err="1"/>
              <a:t>fraud_Killback</a:t>
            </a:r>
            <a:r>
              <a:rPr lang="en-IN" dirty="0"/>
              <a:t> LLC has 0.8% fraud rate. </a:t>
            </a:r>
          </a:p>
          <a:p>
            <a:pPr marL="285750" indent="-285750">
              <a:buFont typeface="Arial" panose="020B0604020202020204" pitchFamily="34" charset="0"/>
              <a:buChar char="•"/>
            </a:pPr>
            <a:r>
              <a:rPr lang="en-IN" dirty="0"/>
              <a:t>In conclusion, we need to keep an eye on each top 10 fraud merchants because it has less than 1169 trans counts and has more than 0.8% fraud rate.</a:t>
            </a:r>
            <a:endParaRPr lang="en-US" dirty="0"/>
          </a:p>
        </p:txBody>
      </p:sp>
    </p:spTree>
    <p:extLst>
      <p:ext uri="{BB962C8B-B14F-4D97-AF65-F5344CB8AC3E}">
        <p14:creationId xmlns:p14="http://schemas.microsoft.com/office/powerpoint/2010/main" val="2723850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40DD4C-18FE-AB8A-F3B3-BBD16375EB37}"/>
              </a:ext>
            </a:extLst>
          </p:cNvPr>
          <p:cNvSpPr txBox="1"/>
          <p:nvPr/>
        </p:nvSpPr>
        <p:spPr>
          <a:xfrm>
            <a:off x="2102758" y="137652"/>
            <a:ext cx="7986482" cy="523220"/>
          </a:xfrm>
          <a:prstGeom prst="rect">
            <a:avLst/>
          </a:prstGeom>
          <a:noFill/>
        </p:spPr>
        <p:txBody>
          <a:bodyPr wrap="none" rtlCol="0">
            <a:spAutoFit/>
          </a:bodyPr>
          <a:lstStyle/>
          <a:p>
            <a:r>
              <a:rPr lang="en-US" sz="2800" b="1" dirty="0"/>
              <a:t>Top 10 Fraud Merchants Fraud Rate Analysis</a:t>
            </a:r>
            <a:endParaRPr lang="en-IN" sz="2800" b="1" dirty="0"/>
          </a:p>
        </p:txBody>
      </p:sp>
      <p:pic>
        <p:nvPicPr>
          <p:cNvPr id="4" name="Picture 3">
            <a:extLst>
              <a:ext uri="{FF2B5EF4-FFF2-40B4-BE49-F238E27FC236}">
                <a16:creationId xmlns:a16="http://schemas.microsoft.com/office/drawing/2014/main" id="{EC5911A4-8345-60B1-C58E-B9AB12773A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051" y="700200"/>
            <a:ext cx="10087897" cy="3723977"/>
          </a:xfrm>
          <a:prstGeom prst="rect">
            <a:avLst/>
          </a:prstGeom>
        </p:spPr>
      </p:pic>
      <p:sp>
        <p:nvSpPr>
          <p:cNvPr id="5" name="TextBox 4">
            <a:extLst>
              <a:ext uri="{FF2B5EF4-FFF2-40B4-BE49-F238E27FC236}">
                <a16:creationId xmlns:a16="http://schemas.microsoft.com/office/drawing/2014/main" id="{27FBDEB9-2C89-EB22-2BC2-308F27E548B3}"/>
              </a:ext>
            </a:extLst>
          </p:cNvPr>
          <p:cNvSpPr txBox="1"/>
          <p:nvPr/>
        </p:nvSpPr>
        <p:spPr>
          <a:xfrm>
            <a:off x="412955" y="4463505"/>
            <a:ext cx="1539204" cy="461665"/>
          </a:xfrm>
          <a:prstGeom prst="rect">
            <a:avLst/>
          </a:prstGeom>
          <a:noFill/>
        </p:spPr>
        <p:txBody>
          <a:bodyPr wrap="none" rtlCol="0">
            <a:spAutoFit/>
          </a:bodyPr>
          <a:lstStyle/>
          <a:p>
            <a:r>
              <a:rPr lang="en-US" sz="2400" b="1" dirty="0">
                <a:solidFill>
                  <a:schemeClr val="accent2">
                    <a:lumMod val="75000"/>
                  </a:schemeClr>
                </a:solidFill>
              </a:rPr>
              <a:t>Findings:</a:t>
            </a:r>
            <a:endParaRPr lang="en-IN" sz="2400" b="1" dirty="0">
              <a:solidFill>
                <a:schemeClr val="accent2">
                  <a:lumMod val="75000"/>
                </a:schemeClr>
              </a:solidFill>
            </a:endParaRPr>
          </a:p>
        </p:txBody>
      </p:sp>
      <p:sp>
        <p:nvSpPr>
          <p:cNvPr id="6" name="TextBox 5">
            <a:extLst>
              <a:ext uri="{FF2B5EF4-FFF2-40B4-BE49-F238E27FC236}">
                <a16:creationId xmlns:a16="http://schemas.microsoft.com/office/drawing/2014/main" id="{AFE49126-319B-3639-8DCF-872826E2CE70}"/>
              </a:ext>
            </a:extLst>
          </p:cNvPr>
          <p:cNvSpPr txBox="1"/>
          <p:nvPr/>
        </p:nvSpPr>
        <p:spPr>
          <a:xfrm>
            <a:off x="412955" y="4925170"/>
            <a:ext cx="10638503" cy="1200329"/>
          </a:xfrm>
          <a:prstGeom prst="rect">
            <a:avLst/>
          </a:prstGeom>
          <a:noFill/>
        </p:spPr>
        <p:txBody>
          <a:bodyPr wrap="square" rtlCol="0">
            <a:spAutoFit/>
          </a:bodyPr>
          <a:lstStyle/>
          <a:p>
            <a:pPr marL="285750" indent="-285750">
              <a:buFont typeface="Arial" panose="020B0604020202020204" pitchFamily="34" charset="0"/>
              <a:buChar char="•"/>
            </a:pPr>
            <a:r>
              <a:rPr lang="en-US" dirty="0"/>
              <a:t>As we thought, here is top 10 fraud merchants and each one has more than 0.8% fraud rate.</a:t>
            </a:r>
          </a:p>
          <a:p>
            <a:pPr marL="285750" indent="-285750">
              <a:buFont typeface="Arial" panose="020B0604020202020204" pitchFamily="34" charset="0"/>
              <a:buChar char="•"/>
            </a:pPr>
            <a:r>
              <a:rPr lang="en-IN" dirty="0"/>
              <a:t>Romaguera, Cruickshank and Greenholt Merchant has high fraud rate 2.19% and same goes to Lemke Gutmann Merchant.</a:t>
            </a:r>
          </a:p>
          <a:p>
            <a:pPr marL="285750" indent="-285750">
              <a:buFont typeface="Arial" panose="020B0604020202020204" pitchFamily="34" charset="0"/>
              <a:buChar char="•"/>
            </a:pPr>
            <a:r>
              <a:rPr lang="en-IN" dirty="0"/>
              <a:t>In conclusion, we need to keep an eye on these merchants in fraud detections.</a:t>
            </a:r>
          </a:p>
        </p:txBody>
      </p:sp>
    </p:spTree>
    <p:extLst>
      <p:ext uri="{BB962C8B-B14F-4D97-AF65-F5344CB8AC3E}">
        <p14:creationId xmlns:p14="http://schemas.microsoft.com/office/powerpoint/2010/main" val="1345990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361E4-33F0-3D3E-F7A2-DD36298694A3}"/>
              </a:ext>
            </a:extLst>
          </p:cNvPr>
          <p:cNvSpPr>
            <a:spLocks noGrp="1"/>
          </p:cNvSpPr>
          <p:nvPr>
            <p:ph type="ctrTitle"/>
          </p:nvPr>
        </p:nvSpPr>
        <p:spPr/>
        <p:txBody>
          <a:bodyPr/>
          <a:lstStyle/>
          <a:p>
            <a:r>
              <a:rPr lang="en-US" dirty="0"/>
              <a:t>Numerical Analysis</a:t>
            </a:r>
            <a:endParaRPr lang="en-IN" dirty="0"/>
          </a:p>
        </p:txBody>
      </p:sp>
    </p:spTree>
    <p:extLst>
      <p:ext uri="{BB962C8B-B14F-4D97-AF65-F5344CB8AC3E}">
        <p14:creationId xmlns:p14="http://schemas.microsoft.com/office/powerpoint/2010/main" val="3192458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23F15F-1748-A449-220A-02AA37F4BCD4}"/>
              </a:ext>
            </a:extLst>
          </p:cNvPr>
          <p:cNvSpPr txBox="1"/>
          <p:nvPr/>
        </p:nvSpPr>
        <p:spPr>
          <a:xfrm>
            <a:off x="196646" y="196645"/>
            <a:ext cx="2318263" cy="1077218"/>
          </a:xfrm>
          <a:prstGeom prst="rect">
            <a:avLst/>
          </a:prstGeom>
          <a:noFill/>
        </p:spPr>
        <p:txBody>
          <a:bodyPr wrap="none" rtlCol="0">
            <a:spAutoFit/>
          </a:bodyPr>
          <a:lstStyle/>
          <a:p>
            <a:r>
              <a:rPr lang="en-US" sz="3200" b="1" dirty="0"/>
              <a:t>Univariate </a:t>
            </a:r>
          </a:p>
          <a:p>
            <a:r>
              <a:rPr lang="en-US" sz="3200" b="1" dirty="0"/>
              <a:t>Analysis</a:t>
            </a:r>
            <a:endParaRPr lang="en-IN" sz="3200" b="1" dirty="0"/>
          </a:p>
        </p:txBody>
      </p:sp>
      <p:pic>
        <p:nvPicPr>
          <p:cNvPr id="4" name="Picture 3">
            <a:extLst>
              <a:ext uri="{FF2B5EF4-FFF2-40B4-BE49-F238E27FC236}">
                <a16:creationId xmlns:a16="http://schemas.microsoft.com/office/drawing/2014/main" id="{065EBC76-7E52-77C4-BD7C-81B673A645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1032" y="196645"/>
            <a:ext cx="6194322" cy="3389750"/>
          </a:xfrm>
          <a:prstGeom prst="rect">
            <a:avLst/>
          </a:prstGeom>
        </p:spPr>
      </p:pic>
      <p:pic>
        <p:nvPicPr>
          <p:cNvPr id="6" name="Picture 5">
            <a:extLst>
              <a:ext uri="{FF2B5EF4-FFF2-40B4-BE49-F238E27FC236}">
                <a16:creationId xmlns:a16="http://schemas.microsoft.com/office/drawing/2014/main" id="{88ABCF05-9665-5910-4DCD-2906A16DF0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8887" y="3774003"/>
            <a:ext cx="5796467" cy="2887352"/>
          </a:xfrm>
          <a:prstGeom prst="rect">
            <a:avLst/>
          </a:prstGeom>
        </p:spPr>
      </p:pic>
      <p:pic>
        <p:nvPicPr>
          <p:cNvPr id="8" name="Picture 7">
            <a:extLst>
              <a:ext uri="{FF2B5EF4-FFF2-40B4-BE49-F238E27FC236}">
                <a16:creationId xmlns:a16="http://schemas.microsoft.com/office/drawing/2014/main" id="{ED55904A-F4EE-2927-31E5-A174BE054C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2151" y="1273863"/>
            <a:ext cx="4497372" cy="3583272"/>
          </a:xfrm>
          <a:prstGeom prst="rect">
            <a:avLst/>
          </a:prstGeom>
        </p:spPr>
      </p:pic>
      <p:sp>
        <p:nvSpPr>
          <p:cNvPr id="9" name="TextBox 8">
            <a:extLst>
              <a:ext uri="{FF2B5EF4-FFF2-40B4-BE49-F238E27FC236}">
                <a16:creationId xmlns:a16="http://schemas.microsoft.com/office/drawing/2014/main" id="{57A6E3F1-0FA7-369D-918F-A8B19E7EA4A9}"/>
              </a:ext>
            </a:extLst>
          </p:cNvPr>
          <p:cNvSpPr txBox="1"/>
          <p:nvPr/>
        </p:nvSpPr>
        <p:spPr>
          <a:xfrm>
            <a:off x="196646" y="4857135"/>
            <a:ext cx="1539204" cy="461665"/>
          </a:xfrm>
          <a:prstGeom prst="rect">
            <a:avLst/>
          </a:prstGeom>
          <a:noFill/>
        </p:spPr>
        <p:txBody>
          <a:bodyPr wrap="none" rtlCol="0">
            <a:spAutoFit/>
          </a:bodyPr>
          <a:lstStyle/>
          <a:p>
            <a:r>
              <a:rPr lang="en-US" sz="2400" b="1" dirty="0">
                <a:solidFill>
                  <a:schemeClr val="accent2">
                    <a:lumMod val="75000"/>
                  </a:schemeClr>
                </a:solidFill>
              </a:rPr>
              <a:t>Findings:</a:t>
            </a:r>
            <a:endParaRPr lang="en-IN" sz="2400" b="1" dirty="0">
              <a:solidFill>
                <a:schemeClr val="accent2">
                  <a:lumMod val="75000"/>
                </a:schemeClr>
              </a:solidFill>
            </a:endParaRPr>
          </a:p>
        </p:txBody>
      </p:sp>
      <p:sp>
        <p:nvSpPr>
          <p:cNvPr id="10" name="TextBox 9">
            <a:extLst>
              <a:ext uri="{FF2B5EF4-FFF2-40B4-BE49-F238E27FC236}">
                <a16:creationId xmlns:a16="http://schemas.microsoft.com/office/drawing/2014/main" id="{7F2388A2-77A3-3CB4-CC6D-0AB842D4A328}"/>
              </a:ext>
            </a:extLst>
          </p:cNvPr>
          <p:cNvSpPr txBox="1"/>
          <p:nvPr/>
        </p:nvSpPr>
        <p:spPr>
          <a:xfrm>
            <a:off x="196646" y="5227060"/>
            <a:ext cx="5515897" cy="1477328"/>
          </a:xfrm>
          <a:prstGeom prst="rect">
            <a:avLst/>
          </a:prstGeom>
          <a:noFill/>
        </p:spPr>
        <p:txBody>
          <a:bodyPr wrap="square" rtlCol="0">
            <a:spAutoFit/>
          </a:bodyPr>
          <a:lstStyle/>
          <a:p>
            <a:r>
              <a:rPr lang="en-US" dirty="0"/>
              <a:t>As per the data, amount is significantly high. Most of the people spend less then 500$. Here, we have higher outliers but we need to keep it because there are high chances to be frauds. We will deep dive into it………</a:t>
            </a:r>
            <a:endParaRPr lang="en-IN" dirty="0"/>
          </a:p>
        </p:txBody>
      </p:sp>
    </p:spTree>
    <p:extLst>
      <p:ext uri="{BB962C8B-B14F-4D97-AF65-F5344CB8AC3E}">
        <p14:creationId xmlns:p14="http://schemas.microsoft.com/office/powerpoint/2010/main" val="2056567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278A10-DB10-3B54-A39D-9DF642F1BD99}"/>
              </a:ext>
            </a:extLst>
          </p:cNvPr>
          <p:cNvSpPr txBox="1"/>
          <p:nvPr/>
        </p:nvSpPr>
        <p:spPr>
          <a:xfrm>
            <a:off x="235974" y="176981"/>
            <a:ext cx="5682966" cy="584775"/>
          </a:xfrm>
          <a:prstGeom prst="rect">
            <a:avLst/>
          </a:prstGeom>
          <a:noFill/>
        </p:spPr>
        <p:txBody>
          <a:bodyPr wrap="none" rtlCol="0">
            <a:spAutoFit/>
          </a:bodyPr>
          <a:lstStyle/>
          <a:p>
            <a:r>
              <a:rPr lang="en-US" sz="3200" b="1" dirty="0"/>
              <a:t>Amount v/s Target Variable</a:t>
            </a:r>
            <a:endParaRPr lang="en-IN" sz="3200" b="1" dirty="0"/>
          </a:p>
        </p:txBody>
      </p:sp>
      <p:pic>
        <p:nvPicPr>
          <p:cNvPr id="4" name="Picture 3">
            <a:extLst>
              <a:ext uri="{FF2B5EF4-FFF2-40B4-BE49-F238E27FC236}">
                <a16:creationId xmlns:a16="http://schemas.microsoft.com/office/drawing/2014/main" id="{BB80717D-1781-8661-77B4-370A435168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9159" y="1458613"/>
            <a:ext cx="7118544" cy="3940773"/>
          </a:xfrm>
          <a:prstGeom prst="rect">
            <a:avLst/>
          </a:prstGeom>
        </p:spPr>
      </p:pic>
      <p:sp>
        <p:nvSpPr>
          <p:cNvPr id="5" name="TextBox 4">
            <a:extLst>
              <a:ext uri="{FF2B5EF4-FFF2-40B4-BE49-F238E27FC236}">
                <a16:creationId xmlns:a16="http://schemas.microsoft.com/office/drawing/2014/main" id="{C3EF9003-FEB2-940D-0C5F-E7D083A4A0DB}"/>
              </a:ext>
            </a:extLst>
          </p:cNvPr>
          <p:cNvSpPr txBox="1"/>
          <p:nvPr/>
        </p:nvSpPr>
        <p:spPr>
          <a:xfrm>
            <a:off x="334297" y="1091381"/>
            <a:ext cx="1539204" cy="461665"/>
          </a:xfrm>
          <a:prstGeom prst="rect">
            <a:avLst/>
          </a:prstGeom>
          <a:noFill/>
        </p:spPr>
        <p:txBody>
          <a:bodyPr wrap="none" rtlCol="0">
            <a:spAutoFit/>
          </a:bodyPr>
          <a:lstStyle/>
          <a:p>
            <a:r>
              <a:rPr lang="en-US" sz="2400" b="1" dirty="0">
                <a:solidFill>
                  <a:schemeClr val="accent2">
                    <a:lumMod val="75000"/>
                  </a:schemeClr>
                </a:solidFill>
              </a:rPr>
              <a:t>Findings:</a:t>
            </a:r>
            <a:endParaRPr lang="en-IN" sz="2400" b="1" dirty="0">
              <a:solidFill>
                <a:schemeClr val="accent2">
                  <a:lumMod val="75000"/>
                </a:schemeClr>
              </a:solidFill>
            </a:endParaRPr>
          </a:p>
        </p:txBody>
      </p:sp>
      <p:sp>
        <p:nvSpPr>
          <p:cNvPr id="7" name="TextBox 6">
            <a:extLst>
              <a:ext uri="{FF2B5EF4-FFF2-40B4-BE49-F238E27FC236}">
                <a16:creationId xmlns:a16="http://schemas.microsoft.com/office/drawing/2014/main" id="{662B1B28-A262-03C7-0ED4-D5FD32ECBD5F}"/>
              </a:ext>
            </a:extLst>
          </p:cNvPr>
          <p:cNvSpPr txBox="1"/>
          <p:nvPr/>
        </p:nvSpPr>
        <p:spPr>
          <a:xfrm>
            <a:off x="334297" y="1553046"/>
            <a:ext cx="4267200" cy="4154984"/>
          </a:xfrm>
          <a:prstGeom prst="rect">
            <a:avLst/>
          </a:prstGeom>
          <a:noFill/>
        </p:spPr>
        <p:txBody>
          <a:bodyPr wrap="square" rtlCol="0">
            <a:spAutoFit/>
          </a:bodyPr>
          <a:lstStyle/>
          <a:p>
            <a:pPr marL="285750" indent="-285750">
              <a:buFont typeface="Arial" panose="020B0604020202020204" pitchFamily="34" charset="0"/>
              <a:buChar char="•"/>
            </a:pPr>
            <a:r>
              <a:rPr lang="en-US" sz="2400" dirty="0"/>
              <a:t>In the box plot, it is clearly visible that those are the outliers, have significantly higher frauds.</a:t>
            </a:r>
          </a:p>
          <a:p>
            <a:pPr marL="285750" indent="-285750">
              <a:buFont typeface="Arial" panose="020B0604020202020204" pitchFamily="34" charset="0"/>
              <a:buChar char="•"/>
            </a:pPr>
            <a:r>
              <a:rPr lang="en-US" sz="2400" dirty="0"/>
              <a:t>We have noticed that most of the frauds are lie between 500$ and 1000$.</a:t>
            </a:r>
          </a:p>
          <a:p>
            <a:pPr marL="285750" indent="-285750">
              <a:buFont typeface="Arial" panose="020B0604020202020204" pitchFamily="34" charset="0"/>
              <a:buChar char="•"/>
            </a:pPr>
            <a:r>
              <a:rPr lang="en-US" sz="2400" dirty="0"/>
              <a:t>We need to analyze more to get a perfect insight to check whether it can be helpful or not.</a:t>
            </a:r>
            <a:endParaRPr lang="en-IN" sz="2400" dirty="0"/>
          </a:p>
        </p:txBody>
      </p:sp>
    </p:spTree>
    <p:extLst>
      <p:ext uri="{BB962C8B-B14F-4D97-AF65-F5344CB8AC3E}">
        <p14:creationId xmlns:p14="http://schemas.microsoft.com/office/powerpoint/2010/main" val="1139339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4C0BF-F05A-DFEC-9D8A-9634315F601D}"/>
              </a:ext>
            </a:extLst>
          </p:cNvPr>
          <p:cNvSpPr txBox="1"/>
          <p:nvPr/>
        </p:nvSpPr>
        <p:spPr>
          <a:xfrm>
            <a:off x="2513128" y="167147"/>
            <a:ext cx="7165744" cy="584775"/>
          </a:xfrm>
          <a:prstGeom prst="rect">
            <a:avLst/>
          </a:prstGeom>
          <a:noFill/>
        </p:spPr>
        <p:txBody>
          <a:bodyPr wrap="none" rtlCol="0">
            <a:spAutoFit/>
          </a:bodyPr>
          <a:lstStyle/>
          <a:p>
            <a:r>
              <a:rPr lang="en-US" sz="3200" b="1" dirty="0"/>
              <a:t>Fraud Transaction Amount via Bins</a:t>
            </a:r>
            <a:endParaRPr lang="en-IN" sz="3200" b="1" dirty="0"/>
          </a:p>
        </p:txBody>
      </p:sp>
      <p:pic>
        <p:nvPicPr>
          <p:cNvPr id="4" name="Picture 3">
            <a:extLst>
              <a:ext uri="{FF2B5EF4-FFF2-40B4-BE49-F238E27FC236}">
                <a16:creationId xmlns:a16="http://schemas.microsoft.com/office/drawing/2014/main" id="{761BCDB8-DF4D-364E-6F90-AEC9BB0FD2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7316" y="939147"/>
            <a:ext cx="4695347" cy="3741008"/>
          </a:xfrm>
          <a:prstGeom prst="rect">
            <a:avLst/>
          </a:prstGeom>
        </p:spPr>
      </p:pic>
      <p:pic>
        <p:nvPicPr>
          <p:cNvPr id="6" name="Picture 5">
            <a:extLst>
              <a:ext uri="{FF2B5EF4-FFF2-40B4-BE49-F238E27FC236}">
                <a16:creationId xmlns:a16="http://schemas.microsoft.com/office/drawing/2014/main" id="{4F05588D-75A3-BB1E-4168-D565E808B1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8192" y="939147"/>
            <a:ext cx="4695347" cy="3741009"/>
          </a:xfrm>
          <a:prstGeom prst="rect">
            <a:avLst/>
          </a:prstGeom>
        </p:spPr>
      </p:pic>
      <p:sp>
        <p:nvSpPr>
          <p:cNvPr id="7" name="TextBox 6">
            <a:extLst>
              <a:ext uri="{FF2B5EF4-FFF2-40B4-BE49-F238E27FC236}">
                <a16:creationId xmlns:a16="http://schemas.microsoft.com/office/drawing/2014/main" id="{B0144350-6B90-A318-F506-0A64ED5D3089}"/>
              </a:ext>
            </a:extLst>
          </p:cNvPr>
          <p:cNvSpPr txBox="1"/>
          <p:nvPr/>
        </p:nvSpPr>
        <p:spPr>
          <a:xfrm>
            <a:off x="176978" y="4748979"/>
            <a:ext cx="1671484" cy="461665"/>
          </a:xfrm>
          <a:prstGeom prst="rect">
            <a:avLst/>
          </a:prstGeom>
          <a:noFill/>
        </p:spPr>
        <p:txBody>
          <a:bodyPr wrap="square" rtlCol="0">
            <a:spAutoFit/>
          </a:bodyPr>
          <a:lstStyle/>
          <a:p>
            <a:r>
              <a:rPr lang="en-US" sz="2400" b="1" dirty="0">
                <a:solidFill>
                  <a:schemeClr val="accent2">
                    <a:lumMod val="75000"/>
                  </a:schemeClr>
                </a:solidFill>
              </a:rPr>
              <a:t>Findings:</a:t>
            </a:r>
            <a:endParaRPr lang="en-IN" sz="2400" b="1" dirty="0">
              <a:solidFill>
                <a:schemeClr val="accent2">
                  <a:lumMod val="75000"/>
                </a:schemeClr>
              </a:solidFill>
            </a:endParaRPr>
          </a:p>
        </p:txBody>
      </p:sp>
      <p:sp>
        <p:nvSpPr>
          <p:cNvPr id="8" name="TextBox 7">
            <a:extLst>
              <a:ext uri="{FF2B5EF4-FFF2-40B4-BE49-F238E27FC236}">
                <a16:creationId xmlns:a16="http://schemas.microsoft.com/office/drawing/2014/main" id="{154B55A5-258E-C880-B968-8B04A2206687}"/>
              </a:ext>
            </a:extLst>
          </p:cNvPr>
          <p:cNvSpPr txBox="1"/>
          <p:nvPr/>
        </p:nvSpPr>
        <p:spPr>
          <a:xfrm>
            <a:off x="432619" y="5269639"/>
            <a:ext cx="11287433" cy="1200329"/>
          </a:xfrm>
          <a:prstGeom prst="rect">
            <a:avLst/>
          </a:prstGeom>
          <a:noFill/>
        </p:spPr>
        <p:txBody>
          <a:bodyPr wrap="square" rtlCol="0">
            <a:spAutoFit/>
          </a:bodyPr>
          <a:lstStyle/>
          <a:p>
            <a:pPr marL="285750" indent="-285750">
              <a:buFont typeface="Arial" panose="020B0604020202020204" pitchFamily="34" charset="0"/>
              <a:buChar char="•"/>
            </a:pPr>
            <a:r>
              <a:rPr lang="en-US" dirty="0"/>
              <a:t>As per the data, we can clearly see that extreme (&gt;500$) has more fraud rates.</a:t>
            </a:r>
          </a:p>
          <a:p>
            <a:pPr marL="285750" indent="-285750">
              <a:buFont typeface="Arial" panose="020B0604020202020204" pitchFamily="34" charset="0"/>
              <a:buChar char="•"/>
            </a:pPr>
            <a:r>
              <a:rPr lang="en-IN" dirty="0"/>
              <a:t>Other bins like micro, small, medium and high has also fraud rates but extreme has significantly high fraud rate.</a:t>
            </a:r>
          </a:p>
          <a:p>
            <a:pPr marL="285750" indent="-285750">
              <a:buFont typeface="Arial" panose="020B0604020202020204" pitchFamily="34" charset="0"/>
              <a:buChar char="•"/>
            </a:pPr>
            <a:r>
              <a:rPr lang="en-IN" dirty="0"/>
              <a:t>We will more analyse it to get the insights from it. Let’s deep dive on it……..</a:t>
            </a:r>
          </a:p>
        </p:txBody>
      </p:sp>
    </p:spTree>
    <p:extLst>
      <p:ext uri="{BB962C8B-B14F-4D97-AF65-F5344CB8AC3E}">
        <p14:creationId xmlns:p14="http://schemas.microsoft.com/office/powerpoint/2010/main" val="1287115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682E1A-5E3B-1FD1-BCC9-3F91F9807445}"/>
              </a:ext>
            </a:extLst>
          </p:cNvPr>
          <p:cNvSpPr txBox="1"/>
          <p:nvPr/>
        </p:nvSpPr>
        <p:spPr>
          <a:xfrm>
            <a:off x="260554" y="235974"/>
            <a:ext cx="9178413" cy="584775"/>
          </a:xfrm>
          <a:prstGeom prst="rect">
            <a:avLst/>
          </a:prstGeom>
          <a:noFill/>
        </p:spPr>
        <p:txBody>
          <a:bodyPr wrap="square" rtlCol="0">
            <a:spAutoFit/>
          </a:bodyPr>
          <a:lstStyle/>
          <a:p>
            <a:r>
              <a:rPr lang="en-US" sz="3200" b="1" dirty="0"/>
              <a:t>High Value Fraud Rate v/s Normal Fraud Rate</a:t>
            </a:r>
            <a:endParaRPr lang="en-IN" sz="3200" b="1" dirty="0"/>
          </a:p>
        </p:txBody>
      </p:sp>
      <p:pic>
        <p:nvPicPr>
          <p:cNvPr id="4" name="Picture 3">
            <a:extLst>
              <a:ext uri="{FF2B5EF4-FFF2-40B4-BE49-F238E27FC236}">
                <a16:creationId xmlns:a16="http://schemas.microsoft.com/office/drawing/2014/main" id="{626CCB73-0709-C778-0E0C-C6651F0798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4036" y="1146610"/>
            <a:ext cx="5441692" cy="4866041"/>
          </a:xfrm>
          <a:prstGeom prst="rect">
            <a:avLst/>
          </a:prstGeom>
        </p:spPr>
      </p:pic>
      <p:sp>
        <p:nvSpPr>
          <p:cNvPr id="5" name="TextBox 4">
            <a:extLst>
              <a:ext uri="{FF2B5EF4-FFF2-40B4-BE49-F238E27FC236}">
                <a16:creationId xmlns:a16="http://schemas.microsoft.com/office/drawing/2014/main" id="{5A5708A3-9A7A-F107-807A-479464548C7E}"/>
              </a:ext>
            </a:extLst>
          </p:cNvPr>
          <p:cNvSpPr txBox="1"/>
          <p:nvPr/>
        </p:nvSpPr>
        <p:spPr>
          <a:xfrm>
            <a:off x="452284" y="1146610"/>
            <a:ext cx="1539204" cy="461665"/>
          </a:xfrm>
          <a:prstGeom prst="rect">
            <a:avLst/>
          </a:prstGeom>
          <a:noFill/>
        </p:spPr>
        <p:txBody>
          <a:bodyPr wrap="none" rtlCol="0">
            <a:spAutoFit/>
          </a:bodyPr>
          <a:lstStyle/>
          <a:p>
            <a:r>
              <a:rPr lang="en-US" sz="2400" b="1" dirty="0">
                <a:solidFill>
                  <a:schemeClr val="accent2">
                    <a:lumMod val="75000"/>
                  </a:schemeClr>
                </a:solidFill>
              </a:rPr>
              <a:t>Findings:</a:t>
            </a:r>
            <a:endParaRPr lang="en-IN" sz="2400" b="1" dirty="0">
              <a:solidFill>
                <a:schemeClr val="accent2">
                  <a:lumMod val="75000"/>
                </a:schemeClr>
              </a:solidFill>
            </a:endParaRPr>
          </a:p>
        </p:txBody>
      </p:sp>
      <p:sp>
        <p:nvSpPr>
          <p:cNvPr id="6" name="TextBox 5">
            <a:extLst>
              <a:ext uri="{FF2B5EF4-FFF2-40B4-BE49-F238E27FC236}">
                <a16:creationId xmlns:a16="http://schemas.microsoft.com/office/drawing/2014/main" id="{D5FB43DF-8B72-CC2D-2854-DE954A864F1E}"/>
              </a:ext>
            </a:extLst>
          </p:cNvPr>
          <p:cNvSpPr txBox="1"/>
          <p:nvPr/>
        </p:nvSpPr>
        <p:spPr>
          <a:xfrm>
            <a:off x="452284" y="1749470"/>
            <a:ext cx="5329084" cy="3693319"/>
          </a:xfrm>
          <a:prstGeom prst="rect">
            <a:avLst/>
          </a:prstGeom>
          <a:noFill/>
        </p:spPr>
        <p:txBody>
          <a:bodyPr wrap="square" rtlCol="0">
            <a:spAutoFit/>
          </a:bodyPr>
          <a:lstStyle/>
          <a:p>
            <a:pPr marL="285750" indent="-285750">
              <a:buFont typeface="Arial" panose="020B0604020202020204" pitchFamily="34" charset="0"/>
              <a:buChar char="•"/>
            </a:pPr>
            <a:r>
              <a:rPr lang="en-US" dirty="0"/>
              <a:t>After looking at this data, first we need to understand that the amount which is higher than 500$, is really important.</a:t>
            </a:r>
          </a:p>
          <a:p>
            <a:pPr marL="285750" indent="-285750">
              <a:buFont typeface="Arial" panose="020B0604020202020204" pitchFamily="34" charset="0"/>
              <a:buChar char="•"/>
            </a:pPr>
            <a:r>
              <a:rPr lang="en-US" dirty="0"/>
              <a:t>It is clearly visible that those people who are paying less than 500$ are more legitimate. Just 0.2% fraud rates are there.</a:t>
            </a:r>
          </a:p>
          <a:p>
            <a:pPr marL="285750" indent="-285750">
              <a:buFont typeface="Arial" panose="020B0604020202020204" pitchFamily="34" charset="0"/>
              <a:buChar char="•"/>
            </a:pPr>
            <a:r>
              <a:rPr lang="en-US" dirty="0"/>
              <a:t>Those people who are paying more than 500$ via credit card, is more likely to be frauds. Fraud rate is 16.49% there.</a:t>
            </a:r>
          </a:p>
          <a:p>
            <a:pPr marL="285750" indent="-285750">
              <a:buFont typeface="Arial" panose="020B0604020202020204" pitchFamily="34" charset="0"/>
              <a:buChar char="•"/>
            </a:pPr>
            <a:r>
              <a:rPr lang="en-US" dirty="0"/>
              <a:t>From now we will understand one by one feature with high value to analyze the data more clearly.</a:t>
            </a:r>
          </a:p>
          <a:p>
            <a:pPr marL="285750" indent="-285750">
              <a:buFont typeface="Arial" panose="020B0604020202020204" pitchFamily="34" charset="0"/>
              <a:buChar char="•"/>
            </a:pPr>
            <a:r>
              <a:rPr lang="en-US" dirty="0"/>
              <a:t>Let’s check further……….</a:t>
            </a:r>
            <a:endParaRPr lang="en-IN" dirty="0"/>
          </a:p>
        </p:txBody>
      </p:sp>
    </p:spTree>
    <p:extLst>
      <p:ext uri="{BB962C8B-B14F-4D97-AF65-F5344CB8AC3E}">
        <p14:creationId xmlns:p14="http://schemas.microsoft.com/office/powerpoint/2010/main" val="1574236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A06C70-F702-F5B1-352D-7F070A6B3A9A}"/>
              </a:ext>
            </a:extLst>
          </p:cNvPr>
          <p:cNvSpPr txBox="1"/>
          <p:nvPr/>
        </p:nvSpPr>
        <p:spPr>
          <a:xfrm>
            <a:off x="3092446" y="162231"/>
            <a:ext cx="5444613" cy="523220"/>
          </a:xfrm>
          <a:prstGeom prst="rect">
            <a:avLst/>
          </a:prstGeom>
          <a:noFill/>
        </p:spPr>
        <p:txBody>
          <a:bodyPr wrap="square" rtlCol="0">
            <a:spAutoFit/>
          </a:bodyPr>
          <a:lstStyle/>
          <a:p>
            <a:r>
              <a:rPr lang="en-US" sz="2800" b="1" dirty="0"/>
              <a:t>High Value Category &amp; Gender</a:t>
            </a:r>
            <a:endParaRPr lang="en-IN" sz="2800" b="1" dirty="0"/>
          </a:p>
        </p:txBody>
      </p:sp>
      <p:pic>
        <p:nvPicPr>
          <p:cNvPr id="4" name="Picture 3">
            <a:extLst>
              <a:ext uri="{FF2B5EF4-FFF2-40B4-BE49-F238E27FC236}">
                <a16:creationId xmlns:a16="http://schemas.microsoft.com/office/drawing/2014/main" id="{A2796DE8-0143-07FB-A6CB-4FB4C4C9A9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7677" y="860217"/>
            <a:ext cx="4581833" cy="3798732"/>
          </a:xfrm>
          <a:prstGeom prst="rect">
            <a:avLst/>
          </a:prstGeom>
        </p:spPr>
      </p:pic>
      <p:pic>
        <p:nvPicPr>
          <p:cNvPr id="6" name="Picture 5">
            <a:extLst>
              <a:ext uri="{FF2B5EF4-FFF2-40B4-BE49-F238E27FC236}">
                <a16:creationId xmlns:a16="http://schemas.microsoft.com/office/drawing/2014/main" id="{8D0CEBFE-22DE-B86E-E7A1-14DC0F776D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2490" y="860217"/>
            <a:ext cx="4202263" cy="3809593"/>
          </a:xfrm>
          <a:prstGeom prst="rect">
            <a:avLst/>
          </a:prstGeom>
        </p:spPr>
      </p:pic>
      <p:sp>
        <p:nvSpPr>
          <p:cNvPr id="7" name="TextBox 6">
            <a:extLst>
              <a:ext uri="{FF2B5EF4-FFF2-40B4-BE49-F238E27FC236}">
                <a16:creationId xmlns:a16="http://schemas.microsoft.com/office/drawing/2014/main" id="{D82B54D3-6B52-FBF9-0F53-555592F15340}"/>
              </a:ext>
            </a:extLst>
          </p:cNvPr>
          <p:cNvSpPr txBox="1"/>
          <p:nvPr/>
        </p:nvSpPr>
        <p:spPr>
          <a:xfrm>
            <a:off x="132279" y="4658949"/>
            <a:ext cx="1539204" cy="461665"/>
          </a:xfrm>
          <a:prstGeom prst="rect">
            <a:avLst/>
          </a:prstGeom>
          <a:noFill/>
        </p:spPr>
        <p:txBody>
          <a:bodyPr wrap="none" rtlCol="0">
            <a:spAutoFit/>
          </a:bodyPr>
          <a:lstStyle/>
          <a:p>
            <a:r>
              <a:rPr lang="en-US" sz="2400" b="1" dirty="0">
                <a:solidFill>
                  <a:schemeClr val="accent2">
                    <a:lumMod val="75000"/>
                  </a:schemeClr>
                </a:solidFill>
              </a:rPr>
              <a:t>Findings:</a:t>
            </a:r>
            <a:endParaRPr lang="en-IN" sz="2400" b="1" dirty="0">
              <a:solidFill>
                <a:schemeClr val="accent2">
                  <a:lumMod val="75000"/>
                </a:schemeClr>
              </a:solidFill>
            </a:endParaRPr>
          </a:p>
        </p:txBody>
      </p:sp>
      <p:sp>
        <p:nvSpPr>
          <p:cNvPr id="8" name="TextBox 7">
            <a:extLst>
              <a:ext uri="{FF2B5EF4-FFF2-40B4-BE49-F238E27FC236}">
                <a16:creationId xmlns:a16="http://schemas.microsoft.com/office/drawing/2014/main" id="{BBDF4CE0-5AF4-A736-4824-B50DD6F97823}"/>
              </a:ext>
            </a:extLst>
          </p:cNvPr>
          <p:cNvSpPr txBox="1"/>
          <p:nvPr/>
        </p:nvSpPr>
        <p:spPr>
          <a:xfrm>
            <a:off x="432619" y="5120614"/>
            <a:ext cx="10962968" cy="1200329"/>
          </a:xfrm>
          <a:prstGeom prst="rect">
            <a:avLst/>
          </a:prstGeom>
          <a:noFill/>
        </p:spPr>
        <p:txBody>
          <a:bodyPr wrap="square" rtlCol="0">
            <a:spAutoFit/>
          </a:bodyPr>
          <a:lstStyle/>
          <a:p>
            <a:pPr marL="285750" indent="-285750">
              <a:buFont typeface="Arial" panose="020B0604020202020204" pitchFamily="34" charset="0"/>
              <a:buChar char="•"/>
            </a:pPr>
            <a:r>
              <a:rPr lang="en-US" dirty="0"/>
              <a:t>As per the data, male category has high in extreme bin which tells clearly that male is more likely to be frauds.</a:t>
            </a:r>
          </a:p>
          <a:p>
            <a:pPr marL="285750" indent="-285750">
              <a:buFont typeface="Arial" panose="020B0604020202020204" pitchFamily="34" charset="0"/>
              <a:buChar char="•"/>
            </a:pPr>
            <a:r>
              <a:rPr lang="en-US" dirty="0"/>
              <a:t>As per the category feature, </a:t>
            </a:r>
            <a:r>
              <a:rPr lang="en-US" dirty="0" err="1"/>
              <a:t>shopping_net</a:t>
            </a:r>
            <a:r>
              <a:rPr lang="en-US" dirty="0"/>
              <a:t> has more trans counts (high value).</a:t>
            </a:r>
          </a:p>
          <a:p>
            <a:pPr marL="285750" indent="-285750">
              <a:buFont typeface="Arial" panose="020B0604020202020204" pitchFamily="34" charset="0"/>
              <a:buChar char="•"/>
            </a:pPr>
            <a:r>
              <a:rPr lang="en-US" dirty="0"/>
              <a:t>In conclusion, male and </a:t>
            </a:r>
            <a:r>
              <a:rPr lang="en-US" dirty="0" err="1"/>
              <a:t>shopping_net</a:t>
            </a:r>
            <a:r>
              <a:rPr lang="en-US" dirty="0"/>
              <a:t> both contains more fraudulent accounts.</a:t>
            </a:r>
            <a:endParaRPr lang="en-IN" dirty="0"/>
          </a:p>
        </p:txBody>
      </p:sp>
    </p:spTree>
    <p:extLst>
      <p:ext uri="{BB962C8B-B14F-4D97-AF65-F5344CB8AC3E}">
        <p14:creationId xmlns:p14="http://schemas.microsoft.com/office/powerpoint/2010/main" val="2985957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4CF498-4CB5-8255-4D5E-ADC8D2A6EF3C}"/>
              </a:ext>
            </a:extLst>
          </p:cNvPr>
          <p:cNvSpPr txBox="1"/>
          <p:nvPr/>
        </p:nvSpPr>
        <p:spPr>
          <a:xfrm>
            <a:off x="2650986" y="255639"/>
            <a:ext cx="6890028" cy="523220"/>
          </a:xfrm>
          <a:prstGeom prst="rect">
            <a:avLst/>
          </a:prstGeom>
          <a:noFill/>
        </p:spPr>
        <p:txBody>
          <a:bodyPr wrap="none" rtlCol="0">
            <a:spAutoFit/>
          </a:bodyPr>
          <a:lstStyle/>
          <a:p>
            <a:r>
              <a:rPr lang="en-US" sz="2800" b="1" dirty="0"/>
              <a:t>Top 5 States by High Value Fraud Rate</a:t>
            </a:r>
            <a:endParaRPr lang="en-IN" sz="2800" b="1" dirty="0"/>
          </a:p>
        </p:txBody>
      </p:sp>
      <p:pic>
        <p:nvPicPr>
          <p:cNvPr id="4" name="Picture 3">
            <a:extLst>
              <a:ext uri="{FF2B5EF4-FFF2-40B4-BE49-F238E27FC236}">
                <a16:creationId xmlns:a16="http://schemas.microsoft.com/office/drawing/2014/main" id="{70F444A4-461D-59D1-8B8D-5317372732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8015" y="992627"/>
            <a:ext cx="5685894" cy="5221360"/>
          </a:xfrm>
          <a:prstGeom prst="rect">
            <a:avLst/>
          </a:prstGeom>
        </p:spPr>
      </p:pic>
      <p:sp>
        <p:nvSpPr>
          <p:cNvPr id="5" name="TextBox 4">
            <a:extLst>
              <a:ext uri="{FF2B5EF4-FFF2-40B4-BE49-F238E27FC236}">
                <a16:creationId xmlns:a16="http://schemas.microsoft.com/office/drawing/2014/main" id="{4E815FEB-FF50-76B6-4FFD-137B31F3C661}"/>
              </a:ext>
            </a:extLst>
          </p:cNvPr>
          <p:cNvSpPr txBox="1"/>
          <p:nvPr/>
        </p:nvSpPr>
        <p:spPr>
          <a:xfrm>
            <a:off x="314633" y="847684"/>
            <a:ext cx="1539204" cy="461665"/>
          </a:xfrm>
          <a:prstGeom prst="rect">
            <a:avLst/>
          </a:prstGeom>
          <a:noFill/>
        </p:spPr>
        <p:txBody>
          <a:bodyPr wrap="none" rtlCol="0">
            <a:spAutoFit/>
          </a:bodyPr>
          <a:lstStyle/>
          <a:p>
            <a:r>
              <a:rPr lang="en-US" sz="2400" b="1" dirty="0">
                <a:solidFill>
                  <a:schemeClr val="accent2">
                    <a:lumMod val="75000"/>
                  </a:schemeClr>
                </a:solidFill>
              </a:rPr>
              <a:t>Findings:</a:t>
            </a:r>
            <a:endParaRPr lang="en-IN" sz="2400" b="1" dirty="0">
              <a:solidFill>
                <a:schemeClr val="accent2">
                  <a:lumMod val="75000"/>
                </a:schemeClr>
              </a:solidFill>
            </a:endParaRPr>
          </a:p>
        </p:txBody>
      </p:sp>
      <p:sp>
        <p:nvSpPr>
          <p:cNvPr id="6" name="TextBox 5">
            <a:extLst>
              <a:ext uri="{FF2B5EF4-FFF2-40B4-BE49-F238E27FC236}">
                <a16:creationId xmlns:a16="http://schemas.microsoft.com/office/drawing/2014/main" id="{59FEB83F-3147-B3DE-B552-D370C7D6D652}"/>
              </a:ext>
            </a:extLst>
          </p:cNvPr>
          <p:cNvSpPr txBox="1"/>
          <p:nvPr/>
        </p:nvSpPr>
        <p:spPr>
          <a:xfrm>
            <a:off x="314633" y="1309349"/>
            <a:ext cx="5220929" cy="3785652"/>
          </a:xfrm>
          <a:prstGeom prst="rect">
            <a:avLst/>
          </a:prstGeom>
          <a:noFill/>
        </p:spPr>
        <p:txBody>
          <a:bodyPr wrap="square" rtlCol="0">
            <a:spAutoFit/>
          </a:bodyPr>
          <a:lstStyle/>
          <a:p>
            <a:pPr marL="285750" indent="-285750">
              <a:buFont typeface="Arial" panose="020B0604020202020204" pitchFamily="34" charset="0"/>
              <a:buChar char="•"/>
            </a:pPr>
            <a:r>
              <a:rPr lang="en-US" sz="2400" dirty="0"/>
              <a:t>As per location, we have noticed that there are top five states with high value, which has more than 24.5% fraud rates.</a:t>
            </a:r>
          </a:p>
          <a:p>
            <a:pPr marL="285750" indent="-285750">
              <a:buFont typeface="Arial" panose="020B0604020202020204" pitchFamily="34" charset="0"/>
              <a:buChar char="•"/>
            </a:pPr>
            <a:r>
              <a:rPr lang="en-US" sz="2400" dirty="0"/>
              <a:t>As per these fraud rates, it is easily understandable that we need to monitor these state definitely in fraud detection.</a:t>
            </a:r>
          </a:p>
          <a:p>
            <a:pPr marL="285750" indent="-285750">
              <a:buFont typeface="Arial" panose="020B0604020202020204" pitchFamily="34" charset="0"/>
              <a:buChar char="•"/>
            </a:pPr>
            <a:r>
              <a:rPr lang="en-US" sz="2400" dirty="0"/>
              <a:t>KY, IA, NM, VA and MT are the most fraudulent account states.</a:t>
            </a:r>
          </a:p>
        </p:txBody>
      </p:sp>
    </p:spTree>
    <p:extLst>
      <p:ext uri="{BB962C8B-B14F-4D97-AF65-F5344CB8AC3E}">
        <p14:creationId xmlns:p14="http://schemas.microsoft.com/office/powerpoint/2010/main" val="3571885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7CC5B-19D2-108C-CD66-4DA3624E435C}"/>
              </a:ext>
            </a:extLst>
          </p:cNvPr>
          <p:cNvSpPr>
            <a:spLocks noGrp="1"/>
          </p:cNvSpPr>
          <p:nvPr>
            <p:ph type="ctrTitle"/>
          </p:nvPr>
        </p:nvSpPr>
        <p:spPr/>
        <p:txBody>
          <a:bodyPr/>
          <a:lstStyle/>
          <a:p>
            <a:r>
              <a:rPr lang="en-US" dirty="0"/>
              <a:t>Time Series Analysis</a:t>
            </a:r>
            <a:endParaRPr lang="en-IN" dirty="0"/>
          </a:p>
        </p:txBody>
      </p:sp>
    </p:spTree>
    <p:extLst>
      <p:ext uri="{BB962C8B-B14F-4D97-AF65-F5344CB8AC3E}">
        <p14:creationId xmlns:p14="http://schemas.microsoft.com/office/powerpoint/2010/main" val="2890592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9D9998-4B9D-15D0-952B-F53507814928}"/>
              </a:ext>
            </a:extLst>
          </p:cNvPr>
          <p:cNvSpPr txBox="1"/>
          <p:nvPr/>
        </p:nvSpPr>
        <p:spPr>
          <a:xfrm>
            <a:off x="429224" y="176981"/>
            <a:ext cx="11333552" cy="584775"/>
          </a:xfrm>
          <a:prstGeom prst="rect">
            <a:avLst/>
          </a:prstGeom>
          <a:noFill/>
        </p:spPr>
        <p:txBody>
          <a:bodyPr wrap="none" rtlCol="0">
            <a:spAutoFit/>
          </a:bodyPr>
          <a:lstStyle/>
          <a:p>
            <a:r>
              <a:rPr lang="en-US" sz="3200" dirty="0"/>
              <a:t>Transaction count and Fraud Rate in Each Hour of the Day</a:t>
            </a:r>
            <a:endParaRPr lang="en-IN" sz="3200" dirty="0"/>
          </a:p>
        </p:txBody>
      </p:sp>
      <p:pic>
        <p:nvPicPr>
          <p:cNvPr id="4" name="Picture 3">
            <a:extLst>
              <a:ext uri="{FF2B5EF4-FFF2-40B4-BE49-F238E27FC236}">
                <a16:creationId xmlns:a16="http://schemas.microsoft.com/office/drawing/2014/main" id="{C102F39D-32BE-92A6-F1C1-FA81F5DEDA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6289" y="756913"/>
            <a:ext cx="5326487" cy="4252510"/>
          </a:xfrm>
          <a:prstGeom prst="rect">
            <a:avLst/>
          </a:prstGeom>
        </p:spPr>
      </p:pic>
      <p:pic>
        <p:nvPicPr>
          <p:cNvPr id="6" name="Picture 5">
            <a:extLst>
              <a:ext uri="{FF2B5EF4-FFF2-40B4-BE49-F238E27FC236}">
                <a16:creationId xmlns:a16="http://schemas.microsoft.com/office/drawing/2014/main" id="{E4E503C7-F3B3-B852-1FA9-C9F2892721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438" y="766599"/>
            <a:ext cx="5696723" cy="4242824"/>
          </a:xfrm>
          <a:prstGeom prst="rect">
            <a:avLst/>
          </a:prstGeom>
        </p:spPr>
      </p:pic>
      <p:sp>
        <p:nvSpPr>
          <p:cNvPr id="8" name="TextBox 7">
            <a:extLst>
              <a:ext uri="{FF2B5EF4-FFF2-40B4-BE49-F238E27FC236}">
                <a16:creationId xmlns:a16="http://schemas.microsoft.com/office/drawing/2014/main" id="{B2C9C98C-A97B-2685-ADF5-CDB434648234}"/>
              </a:ext>
            </a:extLst>
          </p:cNvPr>
          <p:cNvSpPr txBox="1"/>
          <p:nvPr/>
        </p:nvSpPr>
        <p:spPr>
          <a:xfrm>
            <a:off x="429224" y="5009423"/>
            <a:ext cx="1539204" cy="461665"/>
          </a:xfrm>
          <a:prstGeom prst="rect">
            <a:avLst/>
          </a:prstGeom>
          <a:noFill/>
        </p:spPr>
        <p:txBody>
          <a:bodyPr wrap="none" rtlCol="0">
            <a:spAutoFit/>
          </a:bodyPr>
          <a:lstStyle/>
          <a:p>
            <a:r>
              <a:rPr lang="en-US" sz="2400" b="1" dirty="0">
                <a:solidFill>
                  <a:schemeClr val="accent2">
                    <a:lumMod val="75000"/>
                  </a:schemeClr>
                </a:solidFill>
              </a:rPr>
              <a:t>Findings:</a:t>
            </a:r>
            <a:endParaRPr lang="en-IN" sz="2400" b="1" dirty="0">
              <a:solidFill>
                <a:schemeClr val="accent2">
                  <a:lumMod val="75000"/>
                </a:schemeClr>
              </a:solidFill>
            </a:endParaRPr>
          </a:p>
        </p:txBody>
      </p:sp>
      <p:sp>
        <p:nvSpPr>
          <p:cNvPr id="9" name="TextBox 8">
            <a:extLst>
              <a:ext uri="{FF2B5EF4-FFF2-40B4-BE49-F238E27FC236}">
                <a16:creationId xmlns:a16="http://schemas.microsoft.com/office/drawing/2014/main" id="{6A5710C7-43BA-266E-EA09-305372E802C1}"/>
              </a:ext>
            </a:extLst>
          </p:cNvPr>
          <p:cNvSpPr txBox="1"/>
          <p:nvPr/>
        </p:nvSpPr>
        <p:spPr>
          <a:xfrm>
            <a:off x="466831" y="5471088"/>
            <a:ext cx="11258338" cy="923330"/>
          </a:xfrm>
          <a:prstGeom prst="rect">
            <a:avLst/>
          </a:prstGeom>
          <a:noFill/>
        </p:spPr>
        <p:txBody>
          <a:bodyPr wrap="square" rtlCol="0">
            <a:spAutoFit/>
          </a:bodyPr>
          <a:lstStyle/>
          <a:p>
            <a:pPr marL="285750" indent="-285750">
              <a:buFont typeface="Arial" panose="020B0604020202020204" pitchFamily="34" charset="0"/>
              <a:buChar char="•"/>
            </a:pPr>
            <a:r>
              <a:rPr lang="en-US" dirty="0"/>
              <a:t>When we see the transaction count via each hour of the day, we find very interesting thing. </a:t>
            </a:r>
          </a:p>
          <a:p>
            <a:pPr marL="285750" indent="-285750">
              <a:buFont typeface="Arial" panose="020B0604020202020204" pitchFamily="34" charset="0"/>
              <a:buChar char="•"/>
            </a:pPr>
            <a:r>
              <a:rPr lang="en-US" dirty="0"/>
              <a:t>As per the data we can clearly see that b/w 10PM &amp; 11PM each day, there are many frauds (1.95% fraud rate) .</a:t>
            </a:r>
            <a:endParaRPr lang="en-IN" dirty="0"/>
          </a:p>
        </p:txBody>
      </p:sp>
    </p:spTree>
    <p:extLst>
      <p:ext uri="{BB962C8B-B14F-4D97-AF65-F5344CB8AC3E}">
        <p14:creationId xmlns:p14="http://schemas.microsoft.com/office/powerpoint/2010/main" val="18862414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AA2238-60AA-1629-9EB3-FACD22372E99}"/>
              </a:ext>
            </a:extLst>
          </p:cNvPr>
          <p:cNvSpPr txBox="1"/>
          <p:nvPr/>
        </p:nvSpPr>
        <p:spPr>
          <a:xfrm>
            <a:off x="40496" y="176980"/>
            <a:ext cx="12111008" cy="646331"/>
          </a:xfrm>
          <a:prstGeom prst="rect">
            <a:avLst/>
          </a:prstGeom>
          <a:noFill/>
        </p:spPr>
        <p:txBody>
          <a:bodyPr wrap="none" rtlCol="0">
            <a:spAutoFit/>
          </a:bodyPr>
          <a:lstStyle/>
          <a:p>
            <a:r>
              <a:rPr lang="en-US" sz="3600" b="1" dirty="0"/>
              <a:t>Transaction count and Fraud Rate in Day of the Week</a:t>
            </a:r>
            <a:endParaRPr lang="en-IN" sz="3600" b="1" dirty="0"/>
          </a:p>
        </p:txBody>
      </p:sp>
      <p:pic>
        <p:nvPicPr>
          <p:cNvPr id="4" name="Picture 3">
            <a:extLst>
              <a:ext uri="{FF2B5EF4-FFF2-40B4-BE49-F238E27FC236}">
                <a16:creationId xmlns:a16="http://schemas.microsoft.com/office/drawing/2014/main" id="{8BC5EB35-4F62-D22D-0D41-0663EB2C65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914400"/>
            <a:ext cx="5475154" cy="4064464"/>
          </a:xfrm>
          <a:prstGeom prst="rect">
            <a:avLst/>
          </a:prstGeom>
        </p:spPr>
      </p:pic>
      <p:pic>
        <p:nvPicPr>
          <p:cNvPr id="6" name="Picture 5">
            <a:extLst>
              <a:ext uri="{FF2B5EF4-FFF2-40B4-BE49-F238E27FC236}">
                <a16:creationId xmlns:a16="http://schemas.microsoft.com/office/drawing/2014/main" id="{F0DA4358-16FB-7F8B-17E0-5074094EFB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935" y="914400"/>
            <a:ext cx="5457244" cy="4064464"/>
          </a:xfrm>
          <a:prstGeom prst="rect">
            <a:avLst/>
          </a:prstGeom>
        </p:spPr>
      </p:pic>
      <p:sp>
        <p:nvSpPr>
          <p:cNvPr id="7" name="TextBox 6">
            <a:extLst>
              <a:ext uri="{FF2B5EF4-FFF2-40B4-BE49-F238E27FC236}">
                <a16:creationId xmlns:a16="http://schemas.microsoft.com/office/drawing/2014/main" id="{EF5350F9-6FFA-1404-3DF8-11E0A876E031}"/>
              </a:ext>
            </a:extLst>
          </p:cNvPr>
          <p:cNvSpPr txBox="1"/>
          <p:nvPr/>
        </p:nvSpPr>
        <p:spPr>
          <a:xfrm>
            <a:off x="429114" y="4978864"/>
            <a:ext cx="1539204" cy="461665"/>
          </a:xfrm>
          <a:prstGeom prst="rect">
            <a:avLst/>
          </a:prstGeom>
          <a:noFill/>
        </p:spPr>
        <p:txBody>
          <a:bodyPr wrap="none" rtlCol="0">
            <a:spAutoFit/>
          </a:bodyPr>
          <a:lstStyle/>
          <a:p>
            <a:r>
              <a:rPr lang="en-US" sz="2400" b="1" dirty="0">
                <a:solidFill>
                  <a:schemeClr val="accent2">
                    <a:lumMod val="75000"/>
                  </a:schemeClr>
                </a:solidFill>
              </a:rPr>
              <a:t>Findings:</a:t>
            </a:r>
            <a:endParaRPr lang="en-IN" sz="2400" b="1" dirty="0">
              <a:solidFill>
                <a:schemeClr val="accent2">
                  <a:lumMod val="75000"/>
                </a:schemeClr>
              </a:solidFill>
            </a:endParaRPr>
          </a:p>
        </p:txBody>
      </p:sp>
      <p:sp>
        <p:nvSpPr>
          <p:cNvPr id="8" name="TextBox 7">
            <a:extLst>
              <a:ext uri="{FF2B5EF4-FFF2-40B4-BE49-F238E27FC236}">
                <a16:creationId xmlns:a16="http://schemas.microsoft.com/office/drawing/2014/main" id="{95E983C2-F5B3-45D8-AD0A-FDB699FA818C}"/>
              </a:ext>
            </a:extLst>
          </p:cNvPr>
          <p:cNvSpPr txBox="1"/>
          <p:nvPr/>
        </p:nvSpPr>
        <p:spPr>
          <a:xfrm>
            <a:off x="429114" y="5440529"/>
            <a:ext cx="11037219" cy="646331"/>
          </a:xfrm>
          <a:prstGeom prst="rect">
            <a:avLst/>
          </a:prstGeom>
          <a:noFill/>
        </p:spPr>
        <p:txBody>
          <a:bodyPr wrap="square" rtlCol="0">
            <a:spAutoFit/>
          </a:bodyPr>
          <a:lstStyle/>
          <a:p>
            <a:r>
              <a:rPr lang="en-US" dirty="0"/>
              <a:t>As per the data, there is no any significant difference but we can see there are around 0.5% fraud rate in Wednesday &amp; Thursday.</a:t>
            </a:r>
          </a:p>
        </p:txBody>
      </p:sp>
    </p:spTree>
    <p:extLst>
      <p:ext uri="{BB962C8B-B14F-4D97-AF65-F5344CB8AC3E}">
        <p14:creationId xmlns:p14="http://schemas.microsoft.com/office/powerpoint/2010/main" val="9227387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683BAD-5A01-F707-219B-1BDF91D55295}"/>
              </a:ext>
            </a:extLst>
          </p:cNvPr>
          <p:cNvSpPr txBox="1"/>
          <p:nvPr/>
        </p:nvSpPr>
        <p:spPr>
          <a:xfrm>
            <a:off x="98322" y="117987"/>
            <a:ext cx="6244017" cy="584775"/>
          </a:xfrm>
          <a:prstGeom prst="rect">
            <a:avLst/>
          </a:prstGeom>
          <a:noFill/>
        </p:spPr>
        <p:txBody>
          <a:bodyPr wrap="none" rtlCol="0">
            <a:spAutoFit/>
          </a:bodyPr>
          <a:lstStyle/>
          <a:p>
            <a:r>
              <a:rPr lang="en-US" sz="3200" b="1" dirty="0"/>
              <a:t>Age Group v/s Target Variable</a:t>
            </a:r>
            <a:endParaRPr lang="en-IN" sz="3200" b="1" dirty="0"/>
          </a:p>
        </p:txBody>
      </p:sp>
      <p:pic>
        <p:nvPicPr>
          <p:cNvPr id="4" name="Picture 3">
            <a:extLst>
              <a:ext uri="{FF2B5EF4-FFF2-40B4-BE49-F238E27FC236}">
                <a16:creationId xmlns:a16="http://schemas.microsoft.com/office/drawing/2014/main" id="{12704B8D-8762-E440-6A2A-D8EA00D451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7744" y="3932903"/>
            <a:ext cx="8026939" cy="2807109"/>
          </a:xfrm>
          <a:prstGeom prst="rect">
            <a:avLst/>
          </a:prstGeom>
        </p:spPr>
      </p:pic>
      <p:pic>
        <p:nvPicPr>
          <p:cNvPr id="6" name="Picture 5">
            <a:extLst>
              <a:ext uri="{FF2B5EF4-FFF2-40B4-BE49-F238E27FC236}">
                <a16:creationId xmlns:a16="http://schemas.microsoft.com/office/drawing/2014/main" id="{D7B3CDD4-FBEE-9668-604F-9A3D0EF4BA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7062" y="259960"/>
            <a:ext cx="4717621" cy="3554956"/>
          </a:xfrm>
          <a:prstGeom prst="rect">
            <a:avLst/>
          </a:prstGeom>
        </p:spPr>
      </p:pic>
      <p:sp>
        <p:nvSpPr>
          <p:cNvPr id="7" name="TextBox 6">
            <a:extLst>
              <a:ext uri="{FF2B5EF4-FFF2-40B4-BE49-F238E27FC236}">
                <a16:creationId xmlns:a16="http://schemas.microsoft.com/office/drawing/2014/main" id="{2BA915E7-F377-E4E7-9AF9-0651B11FB768}"/>
              </a:ext>
            </a:extLst>
          </p:cNvPr>
          <p:cNvSpPr txBox="1"/>
          <p:nvPr/>
        </p:nvSpPr>
        <p:spPr>
          <a:xfrm>
            <a:off x="98322" y="702762"/>
            <a:ext cx="1539204" cy="461665"/>
          </a:xfrm>
          <a:prstGeom prst="rect">
            <a:avLst/>
          </a:prstGeom>
          <a:noFill/>
        </p:spPr>
        <p:txBody>
          <a:bodyPr wrap="none" rtlCol="0">
            <a:spAutoFit/>
          </a:bodyPr>
          <a:lstStyle/>
          <a:p>
            <a:r>
              <a:rPr lang="en-US" sz="2400" b="1" dirty="0">
                <a:solidFill>
                  <a:schemeClr val="accent2">
                    <a:lumMod val="75000"/>
                  </a:schemeClr>
                </a:solidFill>
              </a:rPr>
              <a:t>Findings:</a:t>
            </a:r>
            <a:endParaRPr lang="en-IN" sz="2400" b="1" dirty="0">
              <a:solidFill>
                <a:schemeClr val="accent2">
                  <a:lumMod val="75000"/>
                </a:schemeClr>
              </a:solidFill>
            </a:endParaRPr>
          </a:p>
        </p:txBody>
      </p:sp>
      <p:sp>
        <p:nvSpPr>
          <p:cNvPr id="8" name="TextBox 7">
            <a:extLst>
              <a:ext uri="{FF2B5EF4-FFF2-40B4-BE49-F238E27FC236}">
                <a16:creationId xmlns:a16="http://schemas.microsoft.com/office/drawing/2014/main" id="{534C832E-4DDF-83E0-602D-21893C7ED43D}"/>
              </a:ext>
            </a:extLst>
          </p:cNvPr>
          <p:cNvSpPr txBox="1"/>
          <p:nvPr/>
        </p:nvSpPr>
        <p:spPr>
          <a:xfrm>
            <a:off x="157317" y="1164427"/>
            <a:ext cx="6931742" cy="2031325"/>
          </a:xfrm>
          <a:prstGeom prst="rect">
            <a:avLst/>
          </a:prstGeom>
          <a:noFill/>
        </p:spPr>
        <p:txBody>
          <a:bodyPr wrap="square" rtlCol="0">
            <a:spAutoFit/>
          </a:bodyPr>
          <a:lstStyle/>
          <a:p>
            <a:pPr marL="285750" indent="-285750">
              <a:buFont typeface="Arial" panose="020B0604020202020204" pitchFamily="34" charset="0"/>
              <a:buChar char="•"/>
            </a:pPr>
            <a:r>
              <a:rPr lang="en-US" dirty="0"/>
              <a:t>As per the data, those who are middle-age (40-60), are more using credit cards. </a:t>
            </a:r>
          </a:p>
          <a:p>
            <a:pPr marL="285750" indent="-285750">
              <a:buFont typeface="Arial" panose="020B0604020202020204" pitchFamily="34" charset="0"/>
              <a:buChar char="•"/>
            </a:pPr>
            <a:r>
              <a:rPr lang="en-US" dirty="0"/>
              <a:t>When we see with target variable, we can clearly see that there is no any significant difference. </a:t>
            </a:r>
          </a:p>
          <a:p>
            <a:pPr marL="285750" indent="-285750">
              <a:buFont typeface="Arial" panose="020B0604020202020204" pitchFamily="34" charset="0"/>
              <a:buChar char="•"/>
            </a:pPr>
            <a:r>
              <a:rPr lang="en-US" dirty="0"/>
              <a:t>Fraud rates are between 0.38% and 0.48%.</a:t>
            </a:r>
          </a:p>
          <a:p>
            <a:pPr marL="285750" indent="-285750">
              <a:buFont typeface="Arial" panose="020B0604020202020204" pitchFamily="34" charset="0"/>
              <a:buChar char="•"/>
            </a:pPr>
            <a:r>
              <a:rPr lang="en-US" dirty="0"/>
              <a:t>In conclusion, we will have to analyze each age group in fraud detection.</a:t>
            </a:r>
            <a:endParaRPr lang="en-IN" dirty="0"/>
          </a:p>
        </p:txBody>
      </p:sp>
    </p:spTree>
    <p:extLst>
      <p:ext uri="{BB962C8B-B14F-4D97-AF65-F5344CB8AC3E}">
        <p14:creationId xmlns:p14="http://schemas.microsoft.com/office/powerpoint/2010/main" val="7309406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6F8AE-9FC7-5A19-5C3F-A45712A50AB6}"/>
              </a:ext>
            </a:extLst>
          </p:cNvPr>
          <p:cNvSpPr>
            <a:spLocks noGrp="1"/>
          </p:cNvSpPr>
          <p:nvPr>
            <p:ph type="ctrTitle"/>
          </p:nvPr>
        </p:nvSpPr>
        <p:spPr/>
        <p:txBody>
          <a:bodyPr/>
          <a:lstStyle/>
          <a:p>
            <a:r>
              <a:rPr lang="en-US" dirty="0"/>
              <a:t>Thank you</a:t>
            </a:r>
            <a:endParaRPr lang="en-IN" dirty="0"/>
          </a:p>
        </p:txBody>
      </p:sp>
      <p:sp>
        <p:nvSpPr>
          <p:cNvPr id="3" name="Subtitle 2">
            <a:extLst>
              <a:ext uri="{FF2B5EF4-FFF2-40B4-BE49-F238E27FC236}">
                <a16:creationId xmlns:a16="http://schemas.microsoft.com/office/drawing/2014/main" id="{577988C5-5BF3-C12A-2243-235E2918F1A8}"/>
              </a:ext>
            </a:extLst>
          </p:cNvPr>
          <p:cNvSpPr>
            <a:spLocks noGrp="1"/>
          </p:cNvSpPr>
          <p:nvPr>
            <p:ph type="subTitle" idx="1"/>
          </p:nvPr>
        </p:nvSpPr>
        <p:spPr/>
        <p:txBody>
          <a:bodyPr/>
          <a:lstStyle/>
          <a:p>
            <a:r>
              <a:rPr lang="en-US" dirty="0"/>
              <a:t>Kalpit Kishore</a:t>
            </a:r>
          </a:p>
        </p:txBody>
      </p:sp>
    </p:spTree>
    <p:extLst>
      <p:ext uri="{BB962C8B-B14F-4D97-AF65-F5344CB8AC3E}">
        <p14:creationId xmlns:p14="http://schemas.microsoft.com/office/powerpoint/2010/main" val="3801278874"/>
      </p:ext>
    </p:extLst>
  </p:cSld>
  <p:clrMapOvr>
    <a:masterClrMapping/>
  </p:clrMapOvr>
</p:sld>
</file>

<file path=ppt/theme/theme1.xml><?xml version="1.0" encoding="utf-8"?>
<a:theme xmlns:a="http://schemas.openxmlformats.org/drawingml/2006/main" name="Axi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2A75EA04-0AE5-4074-9538-7DA6C138DAE9}" vid="{E39B6906-D52F-4B95-B43C-27F512CB479C}"/>
    </a:ext>
  </a:extLst>
</a:theme>
</file>

<file path=docProps/app.xml><?xml version="1.0" encoding="utf-8"?>
<Properties xmlns="http://schemas.openxmlformats.org/officeDocument/2006/extended-properties" xmlns:vt="http://schemas.openxmlformats.org/officeDocument/2006/docPropsVTypes">
  <Template>Axis</Template>
  <TotalTime>358</TotalTime>
  <Words>1436</Words>
  <Application>Microsoft Office PowerPoint</Application>
  <PresentationFormat>Widescreen</PresentationFormat>
  <Paragraphs>100</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Neue Haas Grotesk Text Pro</vt:lpstr>
      <vt:lpstr>Axis</vt:lpstr>
      <vt:lpstr>Credit Card Fraud Detection EDA Case Study</vt:lpstr>
      <vt:lpstr>Business Understanding &amp; Overview</vt:lpstr>
      <vt:lpstr>Understanding the data</vt:lpstr>
      <vt:lpstr>Target Variable</vt:lpstr>
      <vt:lpstr>Missing Data</vt:lpstr>
      <vt:lpstr>Initial Intuition from  the data</vt:lpstr>
      <vt:lpstr>Categorical Analysis</vt:lpstr>
      <vt:lpstr>PowerPoint Presentation</vt:lpstr>
      <vt:lpstr>PowerPoint Presentation</vt:lpstr>
      <vt:lpstr>PowerPoint Presentation</vt:lpstr>
      <vt:lpstr>PowerPoint Presentation</vt:lpstr>
      <vt:lpstr>PowerPoint Presentation</vt:lpstr>
      <vt:lpstr>Numerical Analysis</vt:lpstr>
      <vt:lpstr>PowerPoint Presentation</vt:lpstr>
      <vt:lpstr>PowerPoint Presentation</vt:lpstr>
      <vt:lpstr>PowerPoint Presentation</vt:lpstr>
      <vt:lpstr>PowerPoint Presentation</vt:lpstr>
      <vt:lpstr>PowerPoint Presentation</vt:lpstr>
      <vt:lpstr>PowerPoint Presentation</vt:lpstr>
      <vt:lpstr>Time Series Analysis</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Kalpit Kishore</dc:creator>
  <cp:lastModifiedBy>Kalpit Kishore</cp:lastModifiedBy>
  <cp:revision>4</cp:revision>
  <dcterms:created xsi:type="dcterms:W3CDTF">2026-10-02T06:56:05Z</dcterms:created>
  <dcterms:modified xsi:type="dcterms:W3CDTF">2026-10-05T07:23:33Z</dcterms:modified>
</cp:coreProperties>
</file>